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617896c2f64f06" /><Relationship Type="http://schemas.openxmlformats.org/officeDocument/2006/relationships/extended-properties" Target="/docProps/app.xml" Id="R8aa0ff58105f4d2d" /><Relationship Type="http://schemas.openxmlformats.org/officeDocument/2006/relationships/officeDocument" Target="/ppt/presentation.xml" Id="R5a9f5990eb444e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f4df02b2e245f7"/>
  </p:sldMasterIdLst>
  <p:notesMasterIdLst>
    <p:notesMasterId xmlns:r="http://schemas.openxmlformats.org/officeDocument/2006/relationships" r:id="R22ae31a54c2d47aa"/>
  </p:notesMasterIdLst>
  <p:sldIdLst>
    <p:sldId xmlns:r="http://schemas.openxmlformats.org/officeDocument/2006/relationships" id="256" r:id="Re14f7ba807ef4451"/>
    <p:sldId xmlns:r="http://schemas.openxmlformats.org/officeDocument/2006/relationships" id="257" r:id="Rba25c4a8c31746bf"/>
    <p:sldId xmlns:r="http://schemas.openxmlformats.org/officeDocument/2006/relationships" id="258" r:id="R0fcd1e0f32c44291"/>
    <p:sldId xmlns:r="http://schemas.openxmlformats.org/officeDocument/2006/relationships" id="259" r:id="R6b579d9f14a542b4"/>
    <p:sldId xmlns:r="http://schemas.openxmlformats.org/officeDocument/2006/relationships" id="260" r:id="R0bc9c6e44e814517"/>
    <p:sldId xmlns:r="http://schemas.openxmlformats.org/officeDocument/2006/relationships" id="261" r:id="Rdcb1a10fc41b4fea"/>
    <p:sldId xmlns:r="http://schemas.openxmlformats.org/officeDocument/2006/relationships" id="262" r:id="Ra12c53e0edbd46c1"/>
    <p:sldId xmlns:r="http://schemas.openxmlformats.org/officeDocument/2006/relationships" id="263" r:id="R94cf89a9179545ea"/>
    <p:sldId xmlns:r="http://schemas.openxmlformats.org/officeDocument/2006/relationships" id="264" r:id="R9daeb596c1b340d1"/>
    <p:sldId xmlns:r="http://schemas.openxmlformats.org/officeDocument/2006/relationships" id="265" r:id="R71ca5cfae50b45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21eaaaa2884dcb" /><Relationship Type="http://schemas.openxmlformats.org/officeDocument/2006/relationships/slideMaster" Target="/ppt/slideMasters/slideMaster1.xml" Id="R9ef4df02b2e245f7" /><Relationship Type="http://schemas.openxmlformats.org/officeDocument/2006/relationships/notesMaster" Target="/ppt/notesMasters/notesMaster1.xml" Id="R22ae31a54c2d47aa" /><Relationship Type="http://schemas.openxmlformats.org/officeDocument/2006/relationships/presProps" Target="/ppt/presProps.xml" Id="Rbefdada8c38d4034" /><Relationship Type="http://schemas.openxmlformats.org/officeDocument/2006/relationships/tableStyles" Target="/ppt/tableStyles.xml" Id="R435afcf853154781" /><Relationship Type="http://schemas.openxmlformats.org/officeDocument/2006/relationships/slide" Target="/ppt/slides/slide1.xml" Id="Re14f7ba807ef4451" /><Relationship Type="http://schemas.openxmlformats.org/officeDocument/2006/relationships/slide" Target="/ppt/slides/slide2.xml" Id="Rba25c4a8c31746bf" /><Relationship Type="http://schemas.openxmlformats.org/officeDocument/2006/relationships/slide" Target="/ppt/slides/slide3.xml" Id="R0fcd1e0f32c44291" /><Relationship Type="http://schemas.openxmlformats.org/officeDocument/2006/relationships/slide" Target="/ppt/slides/slide4.xml" Id="R6b579d9f14a542b4" /><Relationship Type="http://schemas.openxmlformats.org/officeDocument/2006/relationships/slide" Target="/ppt/slides/slide5.xml" Id="R0bc9c6e44e814517" /><Relationship Type="http://schemas.openxmlformats.org/officeDocument/2006/relationships/slide" Target="/ppt/slides/slide6.xml" Id="Rdcb1a10fc41b4fea" /><Relationship Type="http://schemas.openxmlformats.org/officeDocument/2006/relationships/slide" Target="/ppt/slides/slide7.xml" Id="Ra12c53e0edbd46c1" /><Relationship Type="http://schemas.openxmlformats.org/officeDocument/2006/relationships/slide" Target="/ppt/slides/slide8.xml" Id="R94cf89a9179545ea" /><Relationship Type="http://schemas.openxmlformats.org/officeDocument/2006/relationships/slide" Target="/ppt/slides/slide9.xml" Id="R9daeb596c1b340d1" /><Relationship Type="http://schemas.openxmlformats.org/officeDocument/2006/relationships/slide" Target="/ppt/slides/slide10.xml" Id="R71ca5cfae50b45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43ef1dff824e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6b6408f2b3492d" /><Relationship Type="http://schemas.openxmlformats.org/officeDocument/2006/relationships/notesMaster" Target="/ppt/notesMasters/notesMaster1.xml" Id="R1f015f8409dd43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09df6907b34047" /><Relationship Type="http://schemas.openxmlformats.org/officeDocument/2006/relationships/notesMaster" Target="/ppt/notesMasters/notesMaster1.xml" Id="Rd0f051098f304d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58e9605b5d4450" /><Relationship Type="http://schemas.openxmlformats.org/officeDocument/2006/relationships/notesMaster" Target="/ppt/notesMasters/notesMaster1.xml" Id="Rd499fc25010144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f08fb5ec38431f" /><Relationship Type="http://schemas.openxmlformats.org/officeDocument/2006/relationships/notesMaster" Target="/ppt/notesMasters/notesMaster1.xml" Id="R630de8380f914d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9d9b9c87914757" /><Relationship Type="http://schemas.openxmlformats.org/officeDocument/2006/relationships/notesMaster" Target="/ppt/notesMasters/notesMaster1.xml" Id="R1dc5ee3f10724e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a084f3041f4c62" /><Relationship Type="http://schemas.openxmlformats.org/officeDocument/2006/relationships/notesMaster" Target="/ppt/notesMasters/notesMaster1.xml" Id="R469f6f9cfd2848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541340445f40b2" /><Relationship Type="http://schemas.openxmlformats.org/officeDocument/2006/relationships/notesMaster" Target="/ppt/notesMasters/notesMaster1.xml" Id="Rd7436e60aa1e4a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d5f6faa0e246fe" /><Relationship Type="http://schemas.openxmlformats.org/officeDocument/2006/relationships/notesMaster" Target="/ppt/notesMasters/notesMaster1.xml" Id="R6f8466c6d6bf41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a87e116614413c" /><Relationship Type="http://schemas.openxmlformats.org/officeDocument/2006/relationships/notesMaster" Target="/ppt/notesMasters/notesMaster1.xml" Id="R29332de1625b40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bcdb79cb2a4776" /><Relationship Type="http://schemas.openxmlformats.org/officeDocument/2006/relationships/notesMaster" Target="/ppt/notesMasters/notesMaster1.xml" Id="R482e7afee6804e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建议用时：1.5 分钟。</a:t>
            </a:r>
          </a:p>
          <a:p xmlns:a="http://schemas.openxmlformats.org/drawingml/2006/main">
            <a:r>
              <a:t>开场先强调：今天不是介绍四个会聊天的机器人，而是介绍一条可控的问答流水线。</a:t>
            </a:r>
          </a:p>
          <a:p xmlns:a="http://schemas.openxmlformats.org/drawingml/2006/main">
            <a:r>
              <a:t>告诉学生课程目标：能画出两条 I/O 链路，并解释四个 Agent 分别写回 RagState 的什么字段。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分钟。</a:t>
            </a:r>
          </a:p>
          <a:p xmlns:a="http://schemas.openxmlformats.org/drawingml/2006/main">
            <a:r>
              <a:t>普通 LLM 的问题不是能力不足，而是没有可靠的项目知识入口。</a:t>
            </a:r>
          </a:p>
          <a:p xmlns:a="http://schemas.openxmlformats.org/drawingml/2006/main">
            <a:r>
              <a:t>RAG 增加证据；Multi-Agent RAG 再把安全、检索、意图和生成拆成可观察的步骤。</a:t>
            </a:r>
          </a:p>
          <a:p xmlns:a="http://schemas.openxmlformats.org/drawingml/2006/main">
            <a:r>
              <a:t>强调右侧不是更聪明的单模型，而是更清晰的系统边界。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分钟。</a:t>
            </a:r>
          </a:p>
          <a:p xmlns:a="http://schemas.openxmlformats.org/drawingml/2006/main">
            <a:r>
              <a:t>先让学生建立两条链路的心智模型。后面所有模块都可以放回其中一条链路。</a:t>
            </a:r>
          </a:p>
          <a:p xmlns:a="http://schemas.openxmlformats.org/drawingml/2006/main">
            <a:r>
              <a:t>上半部分是离线或低频的数据准备；下半部分是在线请求路径。</a:t>
            </a:r>
          </a:p>
          <a:p xmlns:a="http://schemas.openxmlformats.org/drawingml/2006/main">
            <a:r>
              <a:t>两条链路唯一共同的数据面是 Azure AI Search 索引。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分钟。</a:t>
            </a:r>
          </a:p>
          <a:p xmlns:a="http://schemas.openxmlformats.org/drawingml/2006/main">
            <a:r>
              <a:t>按 I/O 讲每一步：PDF 进去，结构化 chunk 文档出来。</a:t>
            </a:r>
          </a:p>
          <a:p xmlns:a="http://schemas.openxmlformats.org/drawingml/2006/main">
            <a:r>
              <a:t>强调嵌入向量既用于文档，也用于后面的查询。两者必须使用兼容的模型和维度。</a:t>
            </a:r>
          </a:p>
          <a:p xmlns:a="http://schemas.openxmlformats.org/drawingml/2006/main">
            <a:r>
              <a:t>当前索引是 HNSW 向量字段加可搜索 content 字段，因此支持 Vector + BM25。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分钟。</a:t>
            </a:r>
          </a:p>
          <a:p xmlns:a="http://schemas.openxmlformats.org/drawingml/2006/main">
            <a:r>
              <a:t>讲清三层：API 包装、LangGraph、输出包装。</a:t>
            </a:r>
          </a:p>
          <a:p xmlns:a="http://schemas.openxmlformats.org/drawingml/2006/main">
            <a:r>
              <a:t>外层 Content Safety 在任何 LLM 或检索之前执行；图内 Guardrail 则使用 LLM 判断相关性。</a:t>
            </a:r>
          </a:p>
          <a:p xmlns:a="http://schemas.openxmlformats.org/drawingml/2006/main">
            <a:r>
              <a:t>正常路径结束后，最终答案会写入 Session，成为下一轮的 previous_answer。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分钟。</a:t>
            </a:r>
          </a:p>
          <a:p xmlns:a="http://schemas.openxmlformats.org/drawingml/2006/main">
            <a:r>
              <a:t>逐个讲清输入与输出，不需要展开 Prompt 文本。</a:t>
            </a:r>
          </a:p>
          <a:p xmlns:a="http://schemas.openxmlformats.org/drawingml/2006/main">
            <a:r>
              <a:t>Guardrail 写回是否通过；Retrieval 写回证据；Intent 写回标签；Answer 写回答案。</a:t>
            </a:r>
          </a:p>
          <a:p xmlns:a="http://schemas.openxmlformats.org/drawingml/2006/main">
            <a:r>
              <a:t>这是区分 Agent 与普通函数链的关键：每个节点围绕共享状态做有边界的决策。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分钟。</a:t>
            </a:r>
          </a:p>
          <a:p xmlns:a="http://schemas.openxmlformats.org/drawingml/2006/main">
            <a:r>
              <a:t>左侧是协作协议，右侧是各节点对协议的增量更新。</a:t>
            </a:r>
          </a:p>
          <a:p xmlns:a="http://schemas.openxmlformats.org/drawingml/2006/main">
            <a:r>
              <a:t>强调 TypedDict 的价值：让每个 Agent 知道自己可以读取什么、必须写回什么。</a:t>
            </a:r>
          </a:p>
          <a:p xmlns:a="http://schemas.openxmlformats.org/drawingml/2006/main">
            <a:r>
              <a:t>条件边不依赖自然语言聊天，而依赖 guardrail_passed 这一明确状态。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分钟。</a:t>
            </a:r>
          </a:p>
          <a:p xmlns:a="http://schemas.openxmlformats.org/drawingml/2006/main">
            <a:r>
              <a:t>外层 Guardrail 管内容安全与 Prompt Injection；内层 Guardrail 管文档相关性和工作流路由。</a:t>
            </a:r>
          </a:p>
          <a:p xmlns:a="http://schemas.openxmlformats.org/drawingml/2006/main">
            <a:r>
              <a:t>被外层拦截时不会调用 LLM 或检索；被图内 Guardrail 拒绝时也不会更新会话。</a:t>
            </a:r>
          </a:p>
          <a:p xmlns:a="http://schemas.openxmlformats.org/drawingml/2006/main">
            <a:r>
              <a:t>最后说明 fail-open 是可用性选择，但必须通过监控暴露错误。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分钟。</a:t>
            </a:r>
          </a:p>
          <a:p xmlns:a="http://schemas.openxmlformats.org/drawingml/2006/main">
            <a:r>
              <a:t>用一个问题把前面所有概念串起来。</a:t>
            </a:r>
          </a:p>
          <a:p xmlns:a="http://schemas.openxmlformats.org/drawingml/2006/main">
            <a:r>
              <a:t>不要虚构检索分数或最终答案；强调结果取决于索引中的真实文档。</a:t>
            </a:r>
          </a:p>
          <a:p xmlns:a="http://schemas.openxmlformats.org/drawingml/2006/main">
            <a:r>
              <a:t>指出 intent=definition 会影响 Answer Agent 的组织方式，但回答仍必须受检索上下文约束。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分钟总结，随后留 1-2 分钟讨论。</a:t>
            </a:r>
          </a:p>
          <a:p xmlns:a="http://schemas.openxmlformats.org/drawingml/2006/main">
            <a:r>
              <a:t>回扣开场：这不是四个聊天机器人，而是一条证据驱动、分工明确、可观察的受控流水线。</a:t>
            </a:r>
          </a:p>
          <a:p xmlns:a="http://schemas.openxmlformats.org/drawingml/2006/main">
            <a:r>
              <a:t>讨论题没有唯一答案。可引导学生提出 citations、citation_validation、unsupported_claims 等字段。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bb699d73254d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7f61f45daf43e4" /><Relationship Type="http://schemas.openxmlformats.org/officeDocument/2006/relationships/slideLayout" Target="/ppt/slideLayouts/slideLayout1.xml" Id="Rac6b7be9057443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6b7be9057443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567445a7545df" /><Relationship Type="http://schemas.openxmlformats.org/officeDocument/2006/relationships/notesSlide" Target="/ppt/notesSlides/notesSlide1.xml" Id="Raa9e9eeb5d994b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4a97106ca4188" /><Relationship Type="http://schemas.openxmlformats.org/officeDocument/2006/relationships/notesSlide" Target="/ppt/notesSlides/notesSlide2.xml" Id="R45d9443589d443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fc5967d7b4616" /><Relationship Type="http://schemas.openxmlformats.org/officeDocument/2006/relationships/notesSlide" Target="/ppt/notesSlides/notesSlide3.xml" Id="R2d1f1cd308674d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794ab163240ff" /><Relationship Type="http://schemas.openxmlformats.org/officeDocument/2006/relationships/notesSlide" Target="/ppt/notesSlides/notesSlide4.xml" Id="R1d1dc9613b6f4b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111608b95458c" /><Relationship Type="http://schemas.openxmlformats.org/officeDocument/2006/relationships/notesSlide" Target="/ppt/notesSlides/notesSlide5.xml" Id="Rca32f41a90b746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2fb99afa3435e" /><Relationship Type="http://schemas.openxmlformats.org/officeDocument/2006/relationships/notesSlide" Target="/ppt/notesSlides/notesSlide6.xml" Id="Rdbcefb560e3448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499b9e01046e2" /><Relationship Type="http://schemas.openxmlformats.org/officeDocument/2006/relationships/notesSlide" Target="/ppt/notesSlides/notesSlide7.xml" Id="R7e285a01ebd440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3de7edc0d4591" /><Relationship Type="http://schemas.openxmlformats.org/officeDocument/2006/relationships/notesSlide" Target="/ppt/notesSlides/notesSlide8.xml" Id="R4d5fcc13ea4948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ebba53637430a" /><Relationship Type="http://schemas.openxmlformats.org/officeDocument/2006/relationships/notesSlide" Target="/ppt/notesSlides/notesSlide9.xml" Id="R620fbc16466e4e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dd5b68ae04282" /><Relationship Type="http://schemas.openxmlformats.org/officeDocument/2006/relationships/notesSlide" Target="/ppt/notesSlides/notesSlide10.xml" Id="Rdacafde867ef4a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7D1842-948E-487D-B615-C1D6DA75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FD8"/>
          </a:solidFill>
          <a:ln xmlns:a="http://schemas.openxmlformats.org/drawingml/2006/main" w="14288">
            <a:solidFill>
              <a:srgbClr val="4D8FD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0376D-7076-43C9-B2F0-37940395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D8F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D8FD8"/>
                </a:solidFill>
                <a:latin typeface="PingFang SC"/>
                <a:ea typeface="PingFang SC"/>
                <a:cs typeface="PingFang SC"/>
              </a:rPr>
              <a:t>30 分钟概览课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EECF7B29-E2BD-4671-A72E-F7C57771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Multi-Agent RAG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5A825032-0417-44D2-B59E-96020A60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21324B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1324B"/>
                </a:solidFill>
                <a:latin typeface="PingFang SC"/>
                <a:ea typeface="PingFang SC"/>
                <a:cs typeface="PingFang SC"/>
              </a:rPr>
              <a:t>让检索、判断与生成各司其职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6A95F-D90A-4105-9C9C-AE2C91EF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基于当前 Azure + LangGraph 项目的端到端导览</a:t>
            </a:r>
          </a:p>
        </p:txBody>
      </p:sp>
      <p:sp>
        <p:nvSpPr>
          <p:cNvPr id="6" name="title-agent-1">
            <a:extLst xmlns:a="http://schemas.openxmlformats.org/drawingml/2006/main">
              <a:ext uri="{FF2B5EF4-FFF2-40B4-BE49-F238E27FC236}">
                <a16:creationId xmlns:a16="http://schemas.microsoft.com/office/drawing/2014/main" id="{3358F1D0-D571-4906-BEB6-D217ACA5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1104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9050">
            <a:solidFill>
              <a:srgbClr val="E99A45"/>
            </a:solidFill>
            <a:prstDash val="solid"/>
          </a:ln>
        </p:spPr>
      </p:sp>
      <p:sp>
        <p:nvSpPr>
          <p:cNvPr id="7" name="title-agent-1-title">
            <a:extLst xmlns:a="http://schemas.openxmlformats.org/drawingml/2006/main">
              <a:ext uri="{FF2B5EF4-FFF2-40B4-BE49-F238E27FC236}">
                <a16:creationId xmlns:a16="http://schemas.microsoft.com/office/drawing/2014/main" id="{459968F3-5FFD-4E49-869F-98FB4B51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38625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200BF-994F-46F7-94E6-10E8F9C7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3867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7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Guardrail</a:t>
            </a:r>
          </a:p>
        </p:txBody>
      </p:sp>
      <p:sp>
        <p:nvSpPr>
          <p:cNvPr id="9" name="title-agent-2">
            <a:extLst xmlns:a="http://schemas.openxmlformats.org/drawingml/2006/main">
              <a:ext uri="{FF2B5EF4-FFF2-40B4-BE49-F238E27FC236}">
                <a16:creationId xmlns:a16="http://schemas.microsoft.com/office/drawing/2014/main" id="{6172BB03-A6FB-48DE-ACFF-CC149317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1104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9050">
            <a:solidFill>
              <a:srgbClr val="53A574"/>
            </a:solidFill>
            <a:prstDash val="solid"/>
          </a:ln>
        </p:spPr>
      </p:sp>
      <p:sp>
        <p:nvSpPr>
          <p:cNvPr id="10" name="title-agent-2-title">
            <a:extLst xmlns:a="http://schemas.openxmlformats.org/drawingml/2006/main">
              <a:ext uri="{FF2B5EF4-FFF2-40B4-BE49-F238E27FC236}">
                <a16:creationId xmlns:a16="http://schemas.microsoft.com/office/drawing/2014/main" id="{672A969F-18D1-460F-A830-545C8887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38625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30FDF-2124-4B56-8F88-6D20D631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3867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7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Retrieve</a:t>
            </a:r>
          </a:p>
        </p:txBody>
      </p:sp>
      <p:sp>
        <p:nvSpPr>
          <p:cNvPr id="12" name="title-agent-3">
            <a:extLst xmlns:a="http://schemas.openxmlformats.org/drawingml/2006/main">
              <a:ext uri="{FF2B5EF4-FFF2-40B4-BE49-F238E27FC236}">
                <a16:creationId xmlns:a16="http://schemas.microsoft.com/office/drawing/2014/main" id="{71498027-B47D-4FE2-BD89-6435792A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95750"/>
            <a:ext cx="1104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9050">
            <a:solidFill>
              <a:srgbClr val="8B6BD6"/>
            </a:solidFill>
            <a:prstDash val="solid"/>
          </a:ln>
        </p:spPr>
      </p:sp>
      <p:sp>
        <p:nvSpPr>
          <p:cNvPr id="13" name="title-agent-3-title">
            <a:extLst xmlns:a="http://schemas.openxmlformats.org/drawingml/2006/main">
              <a:ext uri="{FF2B5EF4-FFF2-40B4-BE49-F238E27FC236}">
                <a16:creationId xmlns:a16="http://schemas.microsoft.com/office/drawing/2014/main" id="{A3530174-E82F-4A42-A7C3-DFE9A285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38625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A1ED1-383D-42BB-A7AF-B515AADD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3867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7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Intent</a:t>
            </a:r>
          </a:p>
        </p:txBody>
      </p:sp>
      <p:sp>
        <p:nvSpPr>
          <p:cNvPr id="15" name="title-agent-4">
            <a:extLst xmlns:a="http://schemas.openxmlformats.org/drawingml/2006/main">
              <a:ext uri="{FF2B5EF4-FFF2-40B4-BE49-F238E27FC236}">
                <a16:creationId xmlns:a16="http://schemas.microsoft.com/office/drawing/2014/main" id="{56AEC5B6-0A7F-4148-A9D0-722D339C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95750"/>
            <a:ext cx="1104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4D8FD8"/>
            </a:solidFill>
            <a:prstDash val="solid"/>
          </a:ln>
        </p:spPr>
      </p:sp>
      <p:sp>
        <p:nvSpPr>
          <p:cNvPr id="16" name="title-agent-4-title">
            <a:extLst xmlns:a="http://schemas.openxmlformats.org/drawingml/2006/main">
              <a:ext uri="{FF2B5EF4-FFF2-40B4-BE49-F238E27FC236}">
                <a16:creationId xmlns:a16="http://schemas.microsoft.com/office/drawing/2014/main" id="{C3E95B67-47C6-4717-A0AB-149E313E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38625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01DBC-4EDA-4B47-B796-F730C38A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63867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7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Answer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77150" y="46482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010650" y="46482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0344150" y="46482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E9519C-D22F-48B5-B631-38F4D862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2925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1324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324B"/>
                </a:solidFill>
                <a:latin typeface="PingFang SC"/>
                <a:ea typeface="PingFang SC"/>
                <a:cs typeface="PingFang SC"/>
              </a:rPr>
              <a:t>证据先于回答，职责先于协作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F67707-80C8-4176-A4B1-3109E6FB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项目：multiagent-rag</a:t>
            </a:r>
          </a:p>
        </p:txBody>
      </p:sp>
    </p:spTree>
    <p:extLst>
      <p:ext uri="{BB962C8B-B14F-4D97-AF65-F5344CB8AC3E}">
        <p14:creationId xmlns:p14="http://schemas.microsoft.com/office/powerpoint/2010/main" val="9374641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19C0BF38-8D3C-4AFE-928B-C72B00AF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D8FD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D8FD8"/>
                </a:solidFill>
                <a:latin typeface="PingFang SC"/>
                <a:ea typeface="PingFang SC"/>
                <a:cs typeface="PingFang SC"/>
              </a:rPr>
              <a:t>MULTI-AGENT RAG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AE5A47-4421-473A-AF29-0BFD1017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RAG 管知识边界，多智能体管流程边界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124AE-572D-4670-A38A-7264370B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E3"/>
            </a:solidFill>
            <a:prstDash val="solid"/>
          </a:ln>
        </p:spPr>
      </p:sp>
      <p:sp>
        <p:nvSpPr>
          <p:cNvPr id="4" name="plain-llm">
            <a:extLst xmlns:a="http://schemas.openxmlformats.org/drawingml/2006/main">
              <a:ext uri="{FF2B5EF4-FFF2-40B4-BE49-F238E27FC236}">
                <a16:creationId xmlns:a16="http://schemas.microsoft.com/office/drawing/2014/main" id="{0850D0D6-C7C8-4FE2-9908-B6A33410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952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4D8FD8"/>
            </a:solidFill>
            <a:prstDash val="solid"/>
          </a:ln>
        </p:spPr>
      </p:sp>
      <p:sp>
        <p:nvSpPr>
          <p:cNvPr id="5" name="plain-llm-title">
            <a:extLst xmlns:a="http://schemas.openxmlformats.org/drawingml/2006/main">
              <a:ext uri="{FF2B5EF4-FFF2-40B4-BE49-F238E27FC236}">
                <a16:creationId xmlns:a16="http://schemas.microsoft.com/office/drawing/2014/main" id="{AD8B4345-5D72-4AA4-8EBB-5004401E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335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普通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2FD46-FD9F-4033-9C9F-849B0481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26860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输入：Prompt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处理：模型内部知识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输出：Answer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风险：知识过期、无证据来源</a:t>
            </a:r>
          </a:p>
        </p:txBody>
      </p:sp>
      <p:sp>
        <p:nvSpPr>
          <p:cNvPr id="7" name="rag">
            <a:extLst xmlns:a="http://schemas.openxmlformats.org/drawingml/2006/main">
              <a:ext uri="{FF2B5EF4-FFF2-40B4-BE49-F238E27FC236}">
                <a16:creationId xmlns:a16="http://schemas.microsoft.com/office/drawing/2014/main" id="{EFA5CC9D-1CE8-4023-8F9D-45824FE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90700"/>
            <a:ext cx="2952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9050">
            <a:solidFill>
              <a:srgbClr val="53A574"/>
            </a:solidFill>
            <a:prstDash val="solid"/>
          </a:ln>
        </p:spPr>
      </p:sp>
      <p:sp>
        <p:nvSpPr>
          <p:cNvPr id="8" name="rag-title">
            <a:extLst xmlns:a="http://schemas.openxmlformats.org/drawingml/2006/main">
              <a:ext uri="{FF2B5EF4-FFF2-40B4-BE49-F238E27FC236}">
                <a16:creationId xmlns:a16="http://schemas.microsoft.com/office/drawing/2014/main" id="{9B3F21EE-7A71-4687-A2B2-05420617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9335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E86CE-A7A5-45FE-99D5-F6606245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95550"/>
            <a:ext cx="26860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输入：Question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处理：Retrieve + Generate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输出：Grounded Answer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优势：用外部文档补充证据</a:t>
            </a:r>
          </a:p>
        </p:txBody>
      </p:sp>
      <p:sp>
        <p:nvSpPr>
          <p:cNvPr id="10" name="multi-rag">
            <a:extLst xmlns:a="http://schemas.openxmlformats.org/drawingml/2006/main">
              <a:ext uri="{FF2B5EF4-FFF2-40B4-BE49-F238E27FC236}">
                <a16:creationId xmlns:a16="http://schemas.microsoft.com/office/drawing/2014/main" id="{8427B360-6DC5-44E3-9119-E5522ACA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952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9050">
            <a:solidFill>
              <a:srgbClr val="8B6BD6"/>
            </a:solidFill>
            <a:prstDash val="solid"/>
          </a:ln>
        </p:spPr>
      </p:sp>
      <p:sp>
        <p:nvSpPr>
          <p:cNvPr id="11" name="multi-rag-title">
            <a:extLst xmlns:a="http://schemas.openxmlformats.org/drawingml/2006/main">
              <a:ext uri="{FF2B5EF4-FFF2-40B4-BE49-F238E27FC236}">
                <a16:creationId xmlns:a16="http://schemas.microsoft.com/office/drawing/2014/main" id="{B93F8C30-1C16-46D4-98E3-86AD554E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335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Multi-Agent RAG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0B21C-615B-4D44-86F7-D2A99DF3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5550"/>
            <a:ext cx="26860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输入：Question + Session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处理：Guard → Retrieve → Classify → Answer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输出：受控回答 + Trace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38550" y="3219450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D8FD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72375" y="3219450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8B6BD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C2778-3519-4AFB-824A-CBB9CF64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8191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DD6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59EFE-7748-4880-AAA4-24AD2DEE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48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E99A4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99A45"/>
                </a:solidFill>
                <a:latin typeface="PingFang SC"/>
                <a:ea typeface="PingFang SC"/>
                <a:cs typeface="PingFang SC"/>
              </a:rPr>
              <a:t>核心变化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F7DEE-695F-4546-AA6C-D6DBFF3E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05450"/>
            <a:ext cx="754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模型不再独自完成所有判断；每个节点只负责一类决策，并通过共享状态交接。</a:t>
            </a:r>
          </a:p>
        </p:txBody>
      </p:sp>
      <p:sp>
        <p:nvSpPr>
          <p:cNvPr id="1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3F48A8E-5F26-4551-8701-E0B62B41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概念对照；本项目实现见 src/agents/rag_agent.py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6263E5-6479-4D78-8AE6-C60819FC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79776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kicker">
            <a:extLst xmlns:a="http://schemas.openxmlformats.org/drawingml/2006/main">
              <a:ext uri="{FF2B5EF4-FFF2-40B4-BE49-F238E27FC236}">
                <a16:creationId xmlns:a16="http://schemas.microsoft.com/office/drawing/2014/main" id="{679F7F2C-62AD-42C5-AC97-29978177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D8FD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D8FD8"/>
                </a:solidFill>
                <a:latin typeface="PingFang SC"/>
                <a:ea typeface="PingFang SC"/>
                <a:cs typeface="PingFang SC"/>
              </a:rPr>
              <a:t>MULTI-AGENT RAG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5CE89F-84BE-427E-8E02-148A0D00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这个项目只有两条主链路：先入库，再问答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C620E-E80C-4F39-8699-9DCD0F4F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0009B-8DB1-4169-B29A-6D592867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90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3A574"/>
          </a:solidFill>
          <a:ln xmlns:a="http://schemas.openxmlformats.org/drawingml/2006/main" w="14288">
            <a:solidFill>
              <a:srgbClr val="53A57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F7375-C408-4708-BB6A-61753E29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EB4CE-0A5A-482B-953A-6824B2C7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文档入库</a:t>
            </a:r>
          </a:p>
        </p:txBody>
      </p:sp>
      <p:sp>
        <p:nvSpPr>
          <p:cNvPr id="7" name="s3-pdf">
            <a:extLst xmlns:a="http://schemas.openxmlformats.org/drawingml/2006/main">
              <a:ext uri="{FF2B5EF4-FFF2-40B4-BE49-F238E27FC236}">
                <a16:creationId xmlns:a16="http://schemas.microsoft.com/office/drawing/2014/main" id="{14433AB9-E903-4031-84FB-A91E891D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4D8FD8"/>
            </a:solidFill>
            <a:prstDash val="solid"/>
          </a:ln>
        </p:spPr>
      </p:sp>
      <p:sp>
        <p:nvSpPr>
          <p:cNvPr id="8" name="s3-pdf-title">
            <a:extLst xmlns:a="http://schemas.openxmlformats.org/drawingml/2006/main">
              <a:ext uri="{FF2B5EF4-FFF2-40B4-BE49-F238E27FC236}">
                <a16:creationId xmlns:a16="http://schemas.microsoft.com/office/drawing/2014/main" id="{C6201B00-8231-4215-A479-0126EE62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17A88-D99C-4222-BE54-80E8A44F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API / CLI</a:t>
            </a:r>
          </a:p>
        </p:txBody>
      </p:sp>
      <p:sp>
        <p:nvSpPr>
          <p:cNvPr id="10" name="s3-extract">
            <a:extLst xmlns:a="http://schemas.openxmlformats.org/drawingml/2006/main">
              <a:ext uri="{FF2B5EF4-FFF2-40B4-BE49-F238E27FC236}">
                <a16:creationId xmlns:a16="http://schemas.microsoft.com/office/drawing/2014/main" id="{5C5DB4E2-F2F7-41A5-A13B-F8C50A9E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9050">
            <a:solidFill>
              <a:srgbClr val="53A574"/>
            </a:solidFill>
            <a:prstDash val="solid"/>
          </a:ln>
        </p:spPr>
      </p:sp>
      <p:sp>
        <p:nvSpPr>
          <p:cNvPr id="11" name="s3-extract-title">
            <a:extLst xmlns:a="http://schemas.openxmlformats.org/drawingml/2006/main">
              <a:ext uri="{FF2B5EF4-FFF2-40B4-BE49-F238E27FC236}">
                <a16:creationId xmlns:a16="http://schemas.microsoft.com/office/drawing/2014/main" id="{E6F5B1E5-F2B5-4272-8ACF-C67AC561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860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Extract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10773-08F9-490D-BAC8-C8491B32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OCR + Layout</a:t>
            </a:r>
          </a:p>
        </p:txBody>
      </p:sp>
      <p:sp>
        <p:nvSpPr>
          <p:cNvPr id="13" name="s3-chunk">
            <a:extLst xmlns:a="http://schemas.openxmlformats.org/drawingml/2006/main">
              <a:ext uri="{FF2B5EF4-FFF2-40B4-BE49-F238E27FC236}">
                <a16:creationId xmlns:a16="http://schemas.microsoft.com/office/drawing/2014/main" id="{B736F638-FC57-459A-8B7E-6474C411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3125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9050">
            <a:solidFill>
              <a:srgbClr val="53A574"/>
            </a:solidFill>
            <a:prstDash val="solid"/>
          </a:ln>
        </p:spPr>
      </p:sp>
      <p:sp>
        <p:nvSpPr>
          <p:cNvPr id="14" name="s3-chunk-title">
            <a:extLst xmlns:a="http://schemas.openxmlformats.org/drawingml/2006/main">
              <a:ext uri="{FF2B5EF4-FFF2-40B4-BE49-F238E27FC236}">
                <a16:creationId xmlns:a16="http://schemas.microsoft.com/office/drawing/2014/main" id="{3E3F846C-80C5-4FEA-B1CB-C923A1FD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Chunk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348A6-E9CB-441B-A25F-033D2BEE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670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重叠文本块</a:t>
            </a:r>
          </a:p>
        </p:txBody>
      </p:sp>
      <p:sp>
        <p:nvSpPr>
          <p:cNvPr id="16" name="s3-embed">
            <a:extLst xmlns:a="http://schemas.openxmlformats.org/drawingml/2006/main">
              <a:ext uri="{FF2B5EF4-FFF2-40B4-BE49-F238E27FC236}">
                <a16:creationId xmlns:a16="http://schemas.microsoft.com/office/drawing/2014/main" id="{78C22EE6-DE13-444F-900F-3E7440A4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43125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9050">
            <a:solidFill>
              <a:srgbClr val="8B6BD6"/>
            </a:solidFill>
            <a:prstDash val="solid"/>
          </a:ln>
        </p:spPr>
      </p:sp>
      <p:sp>
        <p:nvSpPr>
          <p:cNvPr id="17" name="s3-embed-title">
            <a:extLst xmlns:a="http://schemas.openxmlformats.org/drawingml/2006/main">
              <a:ext uri="{FF2B5EF4-FFF2-40B4-BE49-F238E27FC236}">
                <a16:creationId xmlns:a16="http://schemas.microsoft.com/office/drawing/2014/main" id="{11B48995-8FCB-4C2A-8C49-5353C0D9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860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Embed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449CF-5B2C-4C0C-9A50-5377BC18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670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1536 维</a:t>
            </a:r>
          </a:p>
        </p:txBody>
      </p:sp>
      <p:sp>
        <p:nvSpPr>
          <p:cNvPr id="19" name="s3-index">
            <a:extLst xmlns:a="http://schemas.openxmlformats.org/drawingml/2006/main">
              <a:ext uri="{FF2B5EF4-FFF2-40B4-BE49-F238E27FC236}">
                <a16:creationId xmlns:a16="http://schemas.microsoft.com/office/drawing/2014/main" id="{4FFFFF7B-12C0-4AF6-9E32-D2972173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43125"/>
            <a:ext cx="21336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4D8FD8"/>
            </a:solidFill>
            <a:prstDash val="solid"/>
          </a:ln>
        </p:spPr>
      </p:sp>
      <p:sp>
        <p:nvSpPr>
          <p:cNvPr id="20" name="s3-index-title">
            <a:extLst xmlns:a="http://schemas.openxmlformats.org/drawingml/2006/main">
              <a:ext uri="{FF2B5EF4-FFF2-40B4-BE49-F238E27FC236}">
                <a16:creationId xmlns:a16="http://schemas.microsoft.com/office/drawing/2014/main" id="{4C7BC52A-C5B1-48E7-8A4A-87A4DC7F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86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Azure AI 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6827AD-29F1-4F99-A18A-5EA048F3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670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Vector + BM25</a:t>
            </a:r>
          </a:p>
        </p:txBody>
      </p:sp>
      <p:cxnSp>
        <p:nvCxnSpPr>
          <p:cNvPr id="7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00300" y="26193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572000" y="26193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743700" y="26193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915400" y="26193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75808D-7389-4676-9327-E5451542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90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BD6"/>
          </a:solidFill>
          <a:ln xmlns:a="http://schemas.openxmlformats.org/drawingml/2006/main" w="14288">
            <a:solidFill>
              <a:srgbClr val="8B6B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3CF751-A92E-4441-9395-FFA33621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2373A4-764A-4610-9595-3F371C53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查询问答</a:t>
            </a:r>
          </a:p>
        </p:txBody>
      </p:sp>
      <p:sp>
        <p:nvSpPr>
          <p:cNvPr id="29" name="s3-question">
            <a:extLst xmlns:a="http://schemas.openxmlformats.org/drawingml/2006/main">
              <a:ext uri="{FF2B5EF4-FFF2-40B4-BE49-F238E27FC236}">
                <a16:creationId xmlns:a16="http://schemas.microsoft.com/office/drawing/2014/main" id="{A50B7396-1E1C-4253-BF37-16AF435B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4D8FD8"/>
            </a:solidFill>
            <a:prstDash val="solid"/>
          </a:ln>
        </p:spPr>
      </p:sp>
      <p:sp>
        <p:nvSpPr>
          <p:cNvPr id="30" name="s3-question-title">
            <a:extLst xmlns:a="http://schemas.openxmlformats.org/drawingml/2006/main">
              <a:ext uri="{FF2B5EF4-FFF2-40B4-BE49-F238E27FC236}">
                <a16:creationId xmlns:a16="http://schemas.microsoft.com/office/drawing/2014/main" id="{5DCE8CC1-6AA2-4AC6-8ADC-0BF32FBD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Question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593EB8-ED76-4155-A952-C2323FF5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session_id + top_k</a:t>
            </a:r>
          </a:p>
        </p:txBody>
      </p:sp>
      <p:sp>
        <p:nvSpPr>
          <p:cNvPr id="32" name="s3-guard">
            <a:extLst xmlns:a="http://schemas.openxmlformats.org/drawingml/2006/main">
              <a:ext uri="{FF2B5EF4-FFF2-40B4-BE49-F238E27FC236}">
                <a16:creationId xmlns:a16="http://schemas.microsoft.com/office/drawing/2014/main" id="{49C2C1E8-7C90-4323-88B1-4638A7B9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57675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9050">
            <a:solidFill>
              <a:srgbClr val="E99A45"/>
            </a:solidFill>
            <a:prstDash val="solid"/>
          </a:ln>
        </p:spPr>
      </p:sp>
      <p:sp>
        <p:nvSpPr>
          <p:cNvPr id="33" name="s3-guard-title">
            <a:extLst xmlns:a="http://schemas.openxmlformats.org/drawingml/2006/main">
              <a:ext uri="{FF2B5EF4-FFF2-40B4-BE49-F238E27FC236}">
                <a16:creationId xmlns:a16="http://schemas.microsoft.com/office/drawing/2014/main" id="{D96A8635-02EE-428F-A582-2B523338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005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Guard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AC328B-B09F-4540-A7E3-EFAB4905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815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双层检查</a:t>
            </a:r>
          </a:p>
        </p:txBody>
      </p:sp>
      <p:sp>
        <p:nvSpPr>
          <p:cNvPr id="35" name="s3-retrieve">
            <a:extLst xmlns:a="http://schemas.openxmlformats.org/drawingml/2006/main">
              <a:ext uri="{FF2B5EF4-FFF2-40B4-BE49-F238E27FC236}">
                <a16:creationId xmlns:a16="http://schemas.microsoft.com/office/drawing/2014/main" id="{0CE8C56F-B1D5-43B8-B082-39FD3AB5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57675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9050">
            <a:solidFill>
              <a:srgbClr val="53A574"/>
            </a:solidFill>
            <a:prstDash val="solid"/>
          </a:ln>
        </p:spPr>
      </p:sp>
      <p:sp>
        <p:nvSpPr>
          <p:cNvPr id="36" name="s3-retrieve-title">
            <a:extLst xmlns:a="http://schemas.openxmlformats.org/drawingml/2006/main">
              <a:ext uri="{FF2B5EF4-FFF2-40B4-BE49-F238E27FC236}">
                <a16:creationId xmlns:a16="http://schemas.microsoft.com/office/drawing/2014/main" id="{C7A55F1D-AA92-48D6-B491-7E9D056A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005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Retrieve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2654DD-7219-4E11-B567-F77470F1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7815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Hybrid Search</a:t>
            </a:r>
          </a:p>
        </p:txBody>
      </p:sp>
      <p:sp>
        <p:nvSpPr>
          <p:cNvPr id="38" name="s3-intent">
            <a:extLst xmlns:a="http://schemas.openxmlformats.org/drawingml/2006/main">
              <a:ext uri="{FF2B5EF4-FFF2-40B4-BE49-F238E27FC236}">
                <a16:creationId xmlns:a16="http://schemas.microsoft.com/office/drawing/2014/main" id="{B309D369-844C-4B7D-97B9-C0103BFB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57675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9050">
            <a:solidFill>
              <a:srgbClr val="8B6BD6"/>
            </a:solidFill>
            <a:prstDash val="solid"/>
          </a:ln>
        </p:spPr>
      </p:sp>
      <p:sp>
        <p:nvSpPr>
          <p:cNvPr id="39" name="s3-intent-title">
            <a:extLst xmlns:a="http://schemas.openxmlformats.org/drawingml/2006/main">
              <a:ext uri="{FF2B5EF4-FFF2-40B4-BE49-F238E27FC236}">
                <a16:creationId xmlns:a16="http://schemas.microsoft.com/office/drawing/2014/main" id="{B0BB96F0-D754-4008-A1D1-4C71D2F7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Intent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8FF60F-2FA9-4C55-85A9-6B0A668A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815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七类分类</a:t>
            </a:r>
          </a:p>
        </p:txBody>
      </p:sp>
      <p:sp>
        <p:nvSpPr>
          <p:cNvPr id="41" name="s3-answer">
            <a:extLst xmlns:a="http://schemas.openxmlformats.org/drawingml/2006/main">
              <a:ext uri="{FF2B5EF4-FFF2-40B4-BE49-F238E27FC236}">
                <a16:creationId xmlns:a16="http://schemas.microsoft.com/office/drawing/2014/main" id="{473624E0-4E8A-4923-A29B-ED0F169F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57675"/>
            <a:ext cx="21336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9050">
            <a:solidFill>
              <a:srgbClr val="8B6BD6"/>
            </a:solidFill>
            <a:prstDash val="solid"/>
          </a:ln>
        </p:spPr>
      </p:sp>
      <p:sp>
        <p:nvSpPr>
          <p:cNvPr id="42" name="s3-answer-title">
            <a:extLst xmlns:a="http://schemas.openxmlformats.org/drawingml/2006/main">
              <a:ext uri="{FF2B5EF4-FFF2-40B4-BE49-F238E27FC236}">
                <a16:creationId xmlns:a16="http://schemas.microsoft.com/office/drawing/2014/main" id="{BE4485B7-F0F0-4CB2-BA89-358AD276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00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Answer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24E89B-8B3E-4AA7-AB55-117E1DA3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815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来源 + 记忆</a:t>
            </a:r>
          </a:p>
        </p:txBody>
      </p:sp>
      <p:cxnSp>
        <p:nvCxnSpPr>
          <p:cNvPr id="94" name=""/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400300" y="47339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4572000" y="47339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35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6743700" y="47339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3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915400" y="47339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871724-2AF1-4738-8F78-EF66CAEA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1324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1324B"/>
                </a:solidFill>
                <a:latin typeface="PingFang SC"/>
                <a:ea typeface="PingFang SC"/>
                <a:cs typeface="PingFang SC"/>
              </a:rPr>
              <a:t>两条链路通过同一个 Azure AI Search 索引连接：上面写入证据，下面读取证据。</a:t>
            </a:r>
          </a:p>
        </p:txBody>
      </p:sp>
      <p:sp>
        <p:nvSpPr>
          <p:cNvPr id="4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197EBA6-6457-48A5-8633-50E84E78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来源：main.py；src/api/routes.py</a:t>
            </a:r>
          </a:p>
        </p:txBody>
      </p:sp>
      <p:sp>
        <p:nvSpPr>
          <p:cNvPr id="5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6E01D6-D7B8-4B50-B47B-466F8BBE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375678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">
            <a:extLst xmlns:a="http://schemas.openxmlformats.org/drawingml/2006/main">
              <a:ext uri="{FF2B5EF4-FFF2-40B4-BE49-F238E27FC236}">
                <a16:creationId xmlns:a16="http://schemas.microsoft.com/office/drawing/2014/main" id="{C5717BEB-9BA5-4A5A-97EE-3F861391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D8FD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D8FD8"/>
                </a:solidFill>
                <a:latin typeface="PingFang SC"/>
                <a:ea typeface="PingFang SC"/>
                <a:cs typeface="PingFang SC"/>
              </a:rPr>
              <a:t>MULTI-AGENT RAG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0A4707-BF18-47C4-851A-D3ECE8DC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文档入库把 PDF 变成可检索的向量块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EA738-9C5C-43B7-A7B2-A8C6B496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E3"/>
            </a:solidFill>
            <a:prstDash val="solid"/>
          </a:ln>
        </p:spPr>
      </p:sp>
      <p:sp>
        <p:nvSpPr>
          <p:cNvPr id="4" name="ingest-input">
            <a:extLst xmlns:a="http://schemas.openxmlformats.org/drawingml/2006/main">
              <a:ext uri="{FF2B5EF4-FFF2-40B4-BE49-F238E27FC236}">
                <a16:creationId xmlns:a16="http://schemas.microsoft.com/office/drawing/2014/main" id="{D6B20F05-4BFD-4734-BBAB-6D16530A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6383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4D8FD8"/>
            </a:solidFill>
            <a:prstDash val="solid"/>
          </a:ln>
        </p:spPr>
      </p:sp>
      <p:sp>
        <p:nvSpPr>
          <p:cNvPr id="5" name="ingest-input-title">
            <a:extLst xmlns:a="http://schemas.openxmlformats.org/drawingml/2006/main">
              <a:ext uri="{FF2B5EF4-FFF2-40B4-BE49-F238E27FC236}">
                <a16:creationId xmlns:a16="http://schemas.microsoft.com/office/drawing/2014/main" id="{EDBFBCC5-9A85-4500-AF66-91F74DA6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PDF 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2A951-A61C-4142-9D03-091FD246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文件路径 / multipart</a:t>
            </a:r>
          </a:p>
        </p:txBody>
      </p:sp>
      <p:sp>
        <p:nvSpPr>
          <p:cNvPr id="7" name="ingest-extract">
            <a:extLst xmlns:a="http://schemas.openxmlformats.org/drawingml/2006/main">
              <a:ext uri="{FF2B5EF4-FFF2-40B4-BE49-F238E27FC236}">
                <a16:creationId xmlns:a16="http://schemas.microsoft.com/office/drawing/2014/main" id="{E358CF2C-E573-48AC-857A-A452DA7D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90700"/>
            <a:ext cx="16383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9050">
            <a:solidFill>
              <a:srgbClr val="53A574"/>
            </a:solidFill>
            <a:prstDash val="solid"/>
          </a:ln>
        </p:spPr>
      </p:sp>
      <p:sp>
        <p:nvSpPr>
          <p:cNvPr id="8" name="ingest-extract-title">
            <a:extLst xmlns:a="http://schemas.openxmlformats.org/drawingml/2006/main">
              <a:ext uri="{FF2B5EF4-FFF2-40B4-BE49-F238E27FC236}">
                <a16:creationId xmlns:a16="http://schemas.microsoft.com/office/drawing/2014/main" id="{AAAD89F2-FEF6-438E-B4DB-43E70D67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335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提取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816C4-961A-477D-A6BD-5834C02A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9552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text + page_count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+ metadata</a:t>
            </a:r>
          </a:p>
        </p:txBody>
      </p:sp>
      <p:sp>
        <p:nvSpPr>
          <p:cNvPr id="10" name="ingest-chunk">
            <a:extLst xmlns:a="http://schemas.openxmlformats.org/drawingml/2006/main">
              <a:ext uri="{FF2B5EF4-FFF2-40B4-BE49-F238E27FC236}">
                <a16:creationId xmlns:a16="http://schemas.microsoft.com/office/drawing/2014/main" id="{8BF65A74-1A8F-40D0-B9EC-747D1BBB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90700"/>
            <a:ext cx="16383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9050">
            <a:solidFill>
              <a:srgbClr val="53A574"/>
            </a:solidFill>
            <a:prstDash val="solid"/>
          </a:ln>
        </p:spPr>
      </p:sp>
      <p:sp>
        <p:nvSpPr>
          <p:cNvPr id="11" name="ingest-chunk-title">
            <a:extLst xmlns:a="http://schemas.openxmlformats.org/drawingml/2006/main">
              <a:ext uri="{FF2B5EF4-FFF2-40B4-BE49-F238E27FC236}">
                <a16:creationId xmlns:a16="http://schemas.microsoft.com/office/drawing/2014/main" id="{A25958C4-3C03-4FD3-9154-22AFEDEB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335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切块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50FA5-9F93-4C83-B310-A5C681D4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9552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1200 字符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20% 重叠</a:t>
            </a:r>
          </a:p>
        </p:txBody>
      </p:sp>
      <p:sp>
        <p:nvSpPr>
          <p:cNvPr id="13" name="ingest-embed">
            <a:extLst xmlns:a="http://schemas.openxmlformats.org/drawingml/2006/main">
              <a:ext uri="{FF2B5EF4-FFF2-40B4-BE49-F238E27FC236}">
                <a16:creationId xmlns:a16="http://schemas.microsoft.com/office/drawing/2014/main" id="{820ACA40-E922-421D-996D-2EADAE45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90700"/>
            <a:ext cx="16383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9050">
            <a:solidFill>
              <a:srgbClr val="8B6BD6"/>
            </a:solidFill>
            <a:prstDash val="solid"/>
          </a:ln>
        </p:spPr>
      </p:sp>
      <p:sp>
        <p:nvSpPr>
          <p:cNvPr id="14" name="ingest-embed-title">
            <a:extLst xmlns:a="http://schemas.openxmlformats.org/drawingml/2006/main">
              <a:ext uri="{FF2B5EF4-FFF2-40B4-BE49-F238E27FC236}">
                <a16:creationId xmlns:a16="http://schemas.microsoft.com/office/drawing/2014/main" id="{E50EC915-5A7E-4A4F-A947-757334AA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335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向量化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57A2B-862E-41E6-8738-53875F3C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9552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16 条/批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1536 维</a:t>
            </a:r>
          </a:p>
        </p:txBody>
      </p:sp>
      <p:sp>
        <p:nvSpPr>
          <p:cNvPr id="16" name="ingest-index">
            <a:extLst xmlns:a="http://schemas.openxmlformats.org/drawingml/2006/main">
              <a:ext uri="{FF2B5EF4-FFF2-40B4-BE49-F238E27FC236}">
                <a16:creationId xmlns:a16="http://schemas.microsoft.com/office/drawing/2014/main" id="{CE9A19DB-43E7-449A-9980-4B58ABAD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90700"/>
            <a:ext cx="16383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9050">
            <a:solidFill>
              <a:srgbClr val="53A574"/>
            </a:solidFill>
            <a:prstDash val="solid"/>
          </a:ln>
        </p:spPr>
      </p:sp>
      <p:sp>
        <p:nvSpPr>
          <p:cNvPr id="17" name="ingest-index-title">
            <a:extLst xmlns:a="http://schemas.openxmlformats.org/drawingml/2006/main">
              <a:ext uri="{FF2B5EF4-FFF2-40B4-BE49-F238E27FC236}">
                <a16:creationId xmlns:a16="http://schemas.microsoft.com/office/drawing/2014/main" id="{954E42FC-3FF8-4D58-91FC-2B6B80E2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335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索引上传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7A3CD-2D5F-4DBB-B647-6892D1BB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431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100 条/批</a:t>
            </a:r>
          </a:p>
        </p:txBody>
      </p:sp>
      <p:sp>
        <p:nvSpPr>
          <p:cNvPr id="19" name="ingest-search">
            <a:extLst xmlns:a="http://schemas.openxmlformats.org/drawingml/2006/main">
              <a:ext uri="{FF2B5EF4-FFF2-40B4-BE49-F238E27FC236}">
                <a16:creationId xmlns:a16="http://schemas.microsoft.com/office/drawing/2014/main" id="{37E81076-1D1B-4DA6-A58A-DFF523CE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90700"/>
            <a:ext cx="10858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4D8FD8"/>
            </a:solidFill>
            <a:prstDash val="solid"/>
          </a:ln>
        </p:spPr>
      </p:sp>
      <p:sp>
        <p:nvSpPr>
          <p:cNvPr id="20" name="ingest-search-title">
            <a:extLst xmlns:a="http://schemas.openxmlformats.org/drawingml/2006/main">
              <a:ext uri="{FF2B5EF4-FFF2-40B4-BE49-F238E27FC236}">
                <a16:creationId xmlns:a16="http://schemas.microsoft.com/office/drawing/2014/main" id="{CCA0E7C9-9467-4620-926B-9E49A693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335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6AE158-43C3-4429-9CA0-E906B9DC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3431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持久化</a:t>
            </a:r>
          </a:p>
        </p:txBody>
      </p:sp>
      <p:cxnSp>
        <p:nvCxnSpPr>
          <p:cNvPr id="57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86000" y="23145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248150" y="23145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210300" y="23145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172450" y="23145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0134600" y="23145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716895-9657-4985-9A53-B62B05C5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每个 chunk 写入什么？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3F70F3-1303-431A-AA23-7FBD3840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7239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1324B"/>
          </a:solidFill>
          <a:ln xmlns:a="http://schemas.openxmlformats.org/drawingml/2006/main" w="14288">
            <a:solidFill>
              <a:srgbClr val="2132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529EE0-3AA3-4A80-8A45-2384487A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6572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id                content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content_vector    source_file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chunk_index       chunk_size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metadata (JSON)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00E329-2CFF-4315-8791-643DE3D4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失败如何输出？</a:t>
            </a:r>
          </a:p>
        </p:txBody>
      </p:sp>
      <p:sp>
        <p:nvSpPr>
          <p:cNvPr id="31" name="ingest-errors">
            <a:extLst xmlns:a="http://schemas.openxmlformats.org/drawingml/2006/main">
              <a:ext uri="{FF2B5EF4-FFF2-40B4-BE49-F238E27FC236}">
                <a16:creationId xmlns:a16="http://schemas.microsoft.com/office/drawing/2014/main" id="{9F60AE70-7F70-4050-A6E4-11579924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3162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9050">
            <a:solidFill>
              <a:srgbClr val="E99A45"/>
            </a:solidFill>
            <a:prstDash val="solid"/>
          </a:ln>
        </p:spPr>
      </p:sp>
      <p:sp>
        <p:nvSpPr>
          <p:cNvPr id="32" name="ingest-errors-title">
            <a:extLst xmlns:a="http://schemas.openxmlformats.org/drawingml/2006/main">
              <a:ext uri="{FF2B5EF4-FFF2-40B4-BE49-F238E27FC236}">
                <a16:creationId xmlns:a16="http://schemas.microsoft.com/office/drawing/2014/main" id="{45154CD8-61F0-4629-A096-7D01F354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338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A9527D-C4DD-447E-9D76-792CDAA9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62450"/>
            <a:ext cx="2895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格式错误 → HTTP 400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处理异常 → HTTP 500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finally 删除临时 PDF</a:t>
            </a:r>
          </a:p>
        </p:txBody>
      </p:sp>
      <p:sp>
        <p:nvSpPr>
          <p:cNvPr id="3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D5843AE-8CFD-4F04-B623-7F3EE154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来源：src/data_pipeline/document_extractor.py、text_chunker.py、embedder.py、indexer.py</a:t>
            </a:r>
          </a:p>
        </p:txBody>
      </p:sp>
      <p:sp>
        <p:nvSpPr>
          <p:cNvPr id="3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0A15C6-E3B2-41CB-9E09-757BCC8F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65099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kicker">
            <a:extLst xmlns:a="http://schemas.openxmlformats.org/drawingml/2006/main">
              <a:ext uri="{FF2B5EF4-FFF2-40B4-BE49-F238E27FC236}">
                <a16:creationId xmlns:a16="http://schemas.microsoft.com/office/drawing/2014/main" id="{247D37CB-AFF8-426A-9D09-3CC64A06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D8FD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D8FD8"/>
                </a:solidFill>
                <a:latin typeface="PingFang SC"/>
                <a:ea typeface="PingFang SC"/>
                <a:cs typeface="PingFang SC"/>
              </a:rPr>
              <a:t>MULTI-AGENT RAG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B442A8-69BF-450E-8782-3A152ADF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一次查询先过安全与会话，再进入 LangGraph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10338-BEDA-4A30-ADE7-EE6C2332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6C011-16C7-4949-9611-4FEB9EEF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4D8FD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D8FD8"/>
                </a:solidFill>
                <a:latin typeface="PingFang SC"/>
                <a:ea typeface="PingFang SC"/>
                <a:cs typeface="PingFang SC"/>
              </a:rPr>
              <a:t>API 包装层</a:t>
            </a:r>
          </a:p>
        </p:txBody>
      </p:sp>
      <p:sp>
        <p:nvSpPr>
          <p:cNvPr id="5" name="query-request">
            <a:extLst xmlns:a="http://schemas.openxmlformats.org/drawingml/2006/main">
              <a:ext uri="{FF2B5EF4-FFF2-40B4-BE49-F238E27FC236}">
                <a16:creationId xmlns:a16="http://schemas.microsoft.com/office/drawing/2014/main" id="{B4F0F298-EBFE-4316-B9A5-38458941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4D8FD8"/>
            </a:solidFill>
            <a:prstDash val="solid"/>
          </a:ln>
        </p:spPr>
      </p:sp>
      <p:sp>
        <p:nvSpPr>
          <p:cNvPr id="6" name="query-request-title">
            <a:extLst xmlns:a="http://schemas.openxmlformats.org/drawingml/2006/main">
              <a:ext uri="{FF2B5EF4-FFF2-40B4-BE49-F238E27FC236}">
                <a16:creationId xmlns:a16="http://schemas.microsoft.com/office/drawing/2014/main" id="{BACAA293-00BC-4FBB-8691-40CBB966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QueryRequest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577C5-CD72-4383-9354-108304D6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question + session_id</a:t>
            </a:r>
          </a:p>
        </p:txBody>
      </p:sp>
      <p:sp>
        <p:nvSpPr>
          <p:cNvPr id="8" name="query-session">
            <a:extLst xmlns:a="http://schemas.openxmlformats.org/drawingml/2006/main">
              <a:ext uri="{FF2B5EF4-FFF2-40B4-BE49-F238E27FC236}">
                <a16:creationId xmlns:a16="http://schemas.microsoft.com/office/drawing/2014/main" id="{BCA372F6-2D06-481B-85B3-C9BCA760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9050">
            <a:solidFill>
              <a:srgbClr val="53A574"/>
            </a:solidFill>
            <a:prstDash val="solid"/>
          </a:ln>
        </p:spPr>
      </p:sp>
      <p:sp>
        <p:nvSpPr>
          <p:cNvPr id="9" name="query-session-title">
            <a:extLst xmlns:a="http://schemas.openxmlformats.org/drawingml/2006/main">
              <a:ext uri="{FF2B5EF4-FFF2-40B4-BE49-F238E27FC236}">
                <a16:creationId xmlns:a16="http://schemas.microsoft.com/office/drawing/2014/main" id="{07046B0F-4734-4DED-A68D-5C286C95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526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0A73E-3E05-4210-BA39-336B922D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860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上一轮 Q/A</a:t>
            </a:r>
          </a:p>
        </p:txBody>
      </p:sp>
      <p:sp>
        <p:nvSpPr>
          <p:cNvPr id="11" name="query-input-guard">
            <a:extLst xmlns:a="http://schemas.openxmlformats.org/drawingml/2006/main">
              <a:ext uri="{FF2B5EF4-FFF2-40B4-BE49-F238E27FC236}">
                <a16:creationId xmlns:a16="http://schemas.microsoft.com/office/drawing/2014/main" id="{05862F98-B493-4B28-83C9-47A3EF97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09750"/>
            <a:ext cx="2286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9050">
            <a:solidFill>
              <a:srgbClr val="E99A45"/>
            </a:solidFill>
            <a:prstDash val="solid"/>
          </a:ln>
        </p:spPr>
      </p:sp>
      <p:sp>
        <p:nvSpPr>
          <p:cNvPr id="12" name="query-input-guard-title">
            <a:extLst xmlns:a="http://schemas.openxmlformats.org/drawingml/2006/main">
              <a:ext uri="{FF2B5EF4-FFF2-40B4-BE49-F238E27FC236}">
                <a16:creationId xmlns:a16="http://schemas.microsoft.com/office/drawing/2014/main" id="{520CF451-A51A-46C9-8952-26EAF9AE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Input Content Safety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2BA5F-9851-43FB-81B3-F8D0CF20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860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Moderation + Shield</a:t>
            </a:r>
          </a:p>
        </p:txBody>
      </p:sp>
      <p:sp>
        <p:nvSpPr>
          <p:cNvPr id="14" name="query-state">
            <a:extLst xmlns:a="http://schemas.openxmlformats.org/drawingml/2006/main">
              <a:ext uri="{FF2B5EF4-FFF2-40B4-BE49-F238E27FC236}">
                <a16:creationId xmlns:a16="http://schemas.microsoft.com/office/drawing/2014/main" id="{6EFB27E6-50CD-4B8F-8867-72085EC1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28765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9050">
            <a:solidFill>
              <a:srgbClr val="53A574"/>
            </a:solidFill>
            <a:prstDash val="solid"/>
          </a:ln>
        </p:spPr>
      </p:sp>
      <p:sp>
        <p:nvSpPr>
          <p:cNvPr id="15" name="query-state-title">
            <a:extLst xmlns:a="http://schemas.openxmlformats.org/drawingml/2006/main">
              <a:ext uri="{FF2B5EF4-FFF2-40B4-BE49-F238E27FC236}">
                <a16:creationId xmlns:a16="http://schemas.microsoft.com/office/drawing/2014/main" id="{5F092FDE-E9D5-4F03-8BD0-0BF5AF53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526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RagState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97903-CABA-41BF-9451-BAE9CD20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问题 + 记忆 + 空输出字段</a:t>
            </a:r>
          </a:p>
        </p:txBody>
      </p:sp>
      <p:cxnSp>
        <p:nvCxnSpPr>
          <p:cNvPr id="7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86050" y="22383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238750" y="22383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077200" y="22383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19F0D-0368-49A1-9CD4-9490C4EB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8B6BD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B6BD6"/>
                </a:solidFill>
                <a:latin typeface="PingFang SC"/>
                <a:ea typeface="PingFang SC"/>
                <a:cs typeface="PingFang SC"/>
              </a:rPr>
              <a:t>LangGraph 工作流</a:t>
            </a:r>
          </a:p>
        </p:txBody>
      </p:sp>
      <p:sp>
        <p:nvSpPr>
          <p:cNvPr id="21" name="graph-guard">
            <a:extLst xmlns:a="http://schemas.openxmlformats.org/drawingml/2006/main">
              <a:ext uri="{FF2B5EF4-FFF2-40B4-BE49-F238E27FC236}">
                <a16:creationId xmlns:a16="http://schemas.microsoft.com/office/drawing/2014/main" id="{9A32F87A-3181-4C26-BE18-5746CC25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190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9050">
            <a:solidFill>
              <a:srgbClr val="8B6BD6"/>
            </a:solidFill>
            <a:prstDash val="solid"/>
          </a:ln>
        </p:spPr>
      </p:sp>
      <p:sp>
        <p:nvSpPr>
          <p:cNvPr id="22" name="graph-guard-title">
            <a:extLst xmlns:a="http://schemas.openxmlformats.org/drawingml/2006/main">
              <a:ext uri="{FF2B5EF4-FFF2-40B4-BE49-F238E27FC236}">
                <a16:creationId xmlns:a16="http://schemas.microsoft.com/office/drawing/2014/main" id="{1275E9A9-1E32-4FCE-965E-19725E87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Guardrail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BB2C4A-6587-44F6-950D-B82DB04F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relevant / rejected</a:t>
            </a:r>
          </a:p>
        </p:txBody>
      </p:sp>
      <p:sp>
        <p:nvSpPr>
          <p:cNvPr id="24" name="graph-retrieve">
            <a:extLst xmlns:a="http://schemas.openxmlformats.org/drawingml/2006/main">
              <a:ext uri="{FF2B5EF4-FFF2-40B4-BE49-F238E27FC236}">
                <a16:creationId xmlns:a16="http://schemas.microsoft.com/office/drawing/2014/main" id="{F4BE56F9-3130-4C8B-8509-118F6330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52800"/>
            <a:ext cx="2190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9050">
            <a:solidFill>
              <a:srgbClr val="53A574"/>
            </a:solidFill>
            <a:prstDash val="solid"/>
          </a:ln>
        </p:spPr>
      </p:sp>
      <p:sp>
        <p:nvSpPr>
          <p:cNvPr id="25" name="graph-retrieve-title">
            <a:extLst xmlns:a="http://schemas.openxmlformats.org/drawingml/2006/main">
              <a:ext uri="{FF2B5EF4-FFF2-40B4-BE49-F238E27FC236}">
                <a16:creationId xmlns:a16="http://schemas.microsoft.com/office/drawing/2014/main" id="{8890C03C-A004-4CD1-91C0-33B1C70D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9567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Retrieve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EC2861-EDAB-4443-B552-5D531607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481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vector + BM25</a:t>
            </a:r>
          </a:p>
        </p:txBody>
      </p:sp>
      <p:sp>
        <p:nvSpPr>
          <p:cNvPr id="27" name="graph-intent">
            <a:extLst xmlns:a="http://schemas.openxmlformats.org/drawingml/2006/main">
              <a:ext uri="{FF2B5EF4-FFF2-40B4-BE49-F238E27FC236}">
                <a16:creationId xmlns:a16="http://schemas.microsoft.com/office/drawing/2014/main" id="{0E8964ED-0431-4C34-B66B-82E64CC1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2190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9050">
            <a:solidFill>
              <a:srgbClr val="8B6BD6"/>
            </a:solidFill>
            <a:prstDash val="solid"/>
          </a:ln>
        </p:spPr>
      </p:sp>
      <p:sp>
        <p:nvSpPr>
          <p:cNvPr id="28" name="graph-intent-title">
            <a:extLst xmlns:a="http://schemas.openxmlformats.org/drawingml/2006/main">
              <a:ext uri="{FF2B5EF4-FFF2-40B4-BE49-F238E27FC236}">
                <a16:creationId xmlns:a16="http://schemas.microsoft.com/office/drawing/2014/main" id="{7FC48990-F10C-4D98-9D39-8D462C85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9567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Intent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8B7419-6C0A-4DAB-9CA9-9D8CA678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七类标签</a:t>
            </a:r>
          </a:p>
        </p:txBody>
      </p:sp>
      <p:sp>
        <p:nvSpPr>
          <p:cNvPr id="30" name="graph-answer">
            <a:extLst xmlns:a="http://schemas.openxmlformats.org/drawingml/2006/main">
              <a:ext uri="{FF2B5EF4-FFF2-40B4-BE49-F238E27FC236}">
                <a16:creationId xmlns:a16="http://schemas.microsoft.com/office/drawing/2014/main" id="{36566534-6149-4712-93C4-02249326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52800"/>
            <a:ext cx="2190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9050">
            <a:solidFill>
              <a:srgbClr val="8B6BD6"/>
            </a:solidFill>
            <a:prstDash val="solid"/>
          </a:ln>
        </p:spPr>
      </p:sp>
      <p:sp>
        <p:nvSpPr>
          <p:cNvPr id="31" name="graph-answer-title">
            <a:extLst xmlns:a="http://schemas.openxmlformats.org/drawingml/2006/main">
              <a:ext uri="{FF2B5EF4-FFF2-40B4-BE49-F238E27FC236}">
                <a16:creationId xmlns:a16="http://schemas.microsoft.com/office/drawing/2014/main" id="{13D436F3-75C5-4D17-8179-AC414156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9567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Answer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656CFD-6050-4207-BEB9-ADE6E0E1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481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chunks + intent + memory</a:t>
            </a:r>
          </a:p>
        </p:txBody>
      </p:sp>
      <p:cxnSp>
        <p:nvCxnSpPr>
          <p:cNvPr id="88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876550" y="38100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753100" y="38100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629650" y="38100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14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1781175" y="2667000"/>
            <a:ext cx="8286750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6002C4-D99D-439A-9771-1F9D2270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99A4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99A45"/>
                </a:solidFill>
                <a:latin typeface="PingFang SC"/>
                <a:ea typeface="PingFang SC"/>
                <a:cs typeface="PingFang SC"/>
              </a:rPr>
              <a:t>输出包装层</a:t>
            </a:r>
          </a:p>
        </p:txBody>
      </p:sp>
      <p:sp>
        <p:nvSpPr>
          <p:cNvPr id="38" name="query-output-guard">
            <a:extLst xmlns:a="http://schemas.openxmlformats.org/drawingml/2006/main">
              <a:ext uri="{FF2B5EF4-FFF2-40B4-BE49-F238E27FC236}">
                <a16:creationId xmlns:a16="http://schemas.microsoft.com/office/drawing/2014/main" id="{6A611B9C-26F4-4230-BA8B-23874257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5146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9050">
            <a:solidFill>
              <a:srgbClr val="E99A45"/>
            </a:solidFill>
            <a:prstDash val="solid"/>
          </a:ln>
        </p:spPr>
      </p:sp>
      <p:sp>
        <p:nvSpPr>
          <p:cNvPr id="39" name="query-output-guard-title">
            <a:extLst xmlns:a="http://schemas.openxmlformats.org/drawingml/2006/main">
              <a:ext uri="{FF2B5EF4-FFF2-40B4-BE49-F238E27FC236}">
                <a16:creationId xmlns:a16="http://schemas.microsoft.com/office/drawing/2014/main" id="{01B5E0DE-2D24-44AA-9ABB-35004DCC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Output Content Safety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85D062-DF21-4884-B12A-C6EA0BC5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483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命中时替换答案</a:t>
            </a:r>
          </a:p>
        </p:txBody>
      </p:sp>
      <p:sp>
        <p:nvSpPr>
          <p:cNvPr id="41" name="query-update-session">
            <a:extLst xmlns:a="http://schemas.openxmlformats.org/drawingml/2006/main">
              <a:ext uri="{FF2B5EF4-FFF2-40B4-BE49-F238E27FC236}">
                <a16:creationId xmlns:a16="http://schemas.microsoft.com/office/drawing/2014/main" id="{32FD2156-4894-4C5B-878A-C5BDE715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53000"/>
            <a:ext cx="2190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9050">
            <a:solidFill>
              <a:srgbClr val="53A574"/>
            </a:solidFill>
            <a:prstDash val="solid"/>
          </a:ln>
        </p:spPr>
      </p:sp>
      <p:sp>
        <p:nvSpPr>
          <p:cNvPr id="42" name="query-update-session-title">
            <a:extLst xmlns:a="http://schemas.openxmlformats.org/drawingml/2006/main">
              <a:ext uri="{FF2B5EF4-FFF2-40B4-BE49-F238E27FC236}">
                <a16:creationId xmlns:a16="http://schemas.microsoft.com/office/drawing/2014/main" id="{913FAFEB-16E5-4809-9330-B1035EDA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9587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Update Session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0B9E6B-642E-4CE6-B78D-21EE6C6E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4483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保存当前 Q/A</a:t>
            </a:r>
          </a:p>
        </p:txBody>
      </p:sp>
      <p:sp>
        <p:nvSpPr>
          <p:cNvPr id="44" name="query-monitor">
            <a:extLst xmlns:a="http://schemas.openxmlformats.org/drawingml/2006/main">
              <a:ext uri="{FF2B5EF4-FFF2-40B4-BE49-F238E27FC236}">
                <a16:creationId xmlns:a16="http://schemas.microsoft.com/office/drawing/2014/main" id="{BF46218B-D009-4841-B773-9BD55B61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2190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9050">
            <a:solidFill>
              <a:srgbClr val="53A574"/>
            </a:solidFill>
            <a:prstDash val="solid"/>
          </a:ln>
        </p:spPr>
      </p:sp>
      <p:sp>
        <p:nvSpPr>
          <p:cNvPr id="45" name="query-monitor-title">
            <a:extLst xmlns:a="http://schemas.openxmlformats.org/drawingml/2006/main">
              <a:ext uri="{FF2B5EF4-FFF2-40B4-BE49-F238E27FC236}">
                <a16:creationId xmlns:a16="http://schemas.microsoft.com/office/drawing/2014/main" id="{6AACC9D1-FBEA-4343-9A33-8916E4BD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9587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Monitoring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31055E-0FB8-4DEE-9818-4CCDD9EF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483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trace + metric + event</a:t>
            </a:r>
          </a:p>
        </p:txBody>
      </p:sp>
      <p:sp>
        <p:nvSpPr>
          <p:cNvPr id="47" name="query-response">
            <a:extLst xmlns:a="http://schemas.openxmlformats.org/drawingml/2006/main">
              <a:ext uri="{FF2B5EF4-FFF2-40B4-BE49-F238E27FC236}">
                <a16:creationId xmlns:a16="http://schemas.microsoft.com/office/drawing/2014/main" id="{2ED888B0-C3E7-4085-98FE-DD0F1988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53000"/>
            <a:ext cx="18669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4D8FD8"/>
            </a:solidFill>
            <a:prstDash val="solid"/>
          </a:ln>
        </p:spPr>
      </p:sp>
      <p:sp>
        <p:nvSpPr>
          <p:cNvPr id="48" name="query-response-title">
            <a:extLst xmlns:a="http://schemas.openxmlformats.org/drawingml/2006/main">
              <a:ext uri="{FF2B5EF4-FFF2-40B4-BE49-F238E27FC236}">
                <a16:creationId xmlns:a16="http://schemas.microsoft.com/office/drawing/2014/main" id="{107DD4E3-C3CD-4893-B150-7B98A1D9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0958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QueryResponse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7422CB-FE90-4749-9C9C-323E9994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4483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answer + sources</a:t>
            </a:r>
          </a:p>
        </p:txBody>
      </p:sp>
      <p:cxnSp>
        <p:nvCxnSpPr>
          <p:cNvPr id="105" name=""/>
          <p:cNvCxnSpPr>
            <a:stCxn xmlns:a="http://schemas.openxmlformats.org/drawingml/2006/main" id="3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3200400" y="54102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41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6076950" y="54102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4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953500" y="54102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30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 flipH="1">
            <a:off x="1943100" y="4267200"/>
            <a:ext cx="8467725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4D45A7C-FC7E-4D72-B094-5A4E1F50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来源：src/api/routes.py；src/agents/rag_agent.py</a:t>
            </a:r>
          </a:p>
        </p:txBody>
      </p:sp>
      <p:sp>
        <p:nvSpPr>
          <p:cNvPr id="5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EBC87D1-D62A-4480-A052-53A5C2AC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96398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icker">
            <a:extLst xmlns:a="http://schemas.openxmlformats.org/drawingml/2006/main">
              <a:ext uri="{FF2B5EF4-FFF2-40B4-BE49-F238E27FC236}">
                <a16:creationId xmlns:a16="http://schemas.microsoft.com/office/drawing/2014/main" id="{BD6F892A-0FFD-4261-8316-C4D1DD42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D8FD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D8FD8"/>
                </a:solidFill>
                <a:latin typeface="PingFang SC"/>
                <a:ea typeface="PingFang SC"/>
                <a:cs typeface="PingFang SC"/>
              </a:rPr>
              <a:t>MULTI-AGENT RAG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78B3D9-485B-47BC-BE84-CC151D0F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四个 Agent 对应四个明确职责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D3BFD-96EA-4CCE-A0DC-69946F5A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DAA85-0E77-4DD1-BB1D-89AC9F24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590800" cy="314325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9050">
            <a:solidFill>
              <a:srgbClr val="E99A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B98A1-3A64-4282-BE4C-F89D718C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E99A4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99A4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35489-01F5-44AA-8052-AF2D8CE2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Guardrail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CAFD7-445E-4B80-96E1-8F0AB8C6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99A4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99A45"/>
                </a:solidFill>
                <a:latin typeface="PingFang SC"/>
                <a:ea typeface="PingFang SC"/>
                <a:cs typeface="PingFang SC"/>
              </a:rPr>
              <a:t>判断是否继续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E15DC-CEEE-44DB-9FCD-63CD848E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读取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8B8DA-1F9F-4876-91AF-832034E7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2033"/>
                </a:solidFill>
                <a:latin typeface="Menlo"/>
                <a:ea typeface="Menlo"/>
                <a:cs typeface="Menlo"/>
              </a:rPr>
              <a:t>question + previous_question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DAFCC-8DC6-4140-BACB-A75EE4DC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写回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5D2BB-8197-45BD-95A5-FAAC7B30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2033"/>
                </a:solidFill>
                <a:latin typeface="Menlo"/>
                <a:ea typeface="Menlo"/>
                <a:cs typeface="Menlo"/>
              </a:rPr>
              <a:t>guardrail_passed / reason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9C7DA-3877-4610-95DC-0F407C64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90700"/>
            <a:ext cx="2590800" cy="314325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9050">
            <a:solidFill>
              <a:srgbClr val="53A5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250E1-3E15-4DDC-9B38-71179177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81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3A57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3A57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A7673-3C97-41CF-9A3E-297913C0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Retrieval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85D65-FB12-4FC4-BC0F-8C9724C0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3A5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3A574"/>
                </a:solidFill>
                <a:latin typeface="PingFang SC"/>
                <a:ea typeface="PingFang SC"/>
                <a:cs typeface="PingFang SC"/>
              </a:rPr>
              <a:t>召回证据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205EE-3BDB-4AE1-A948-59420DA1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95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读取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7D6E6-5D22-4C9F-9925-96ACCACB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433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2033"/>
                </a:solidFill>
                <a:latin typeface="Menlo"/>
                <a:ea typeface="Menlo"/>
                <a:cs typeface="Menlo"/>
              </a:rPr>
              <a:t>current_question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8AA4F-58F1-4EFB-91BC-C730A36E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写回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6CE6E-3A9E-4B09-BE34-CAB9BDF0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96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2033"/>
                </a:solidFill>
                <a:latin typeface="Menlo"/>
                <a:ea typeface="Menlo"/>
                <a:cs typeface="Menlo"/>
              </a:rPr>
              <a:t>retrieved_chunks / metadata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352C4-BB44-4788-8DDE-5CDA1C0F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2590800" cy="314325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9050">
            <a:solidFill>
              <a:srgbClr val="8B6B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BC7CEC-E5DE-4844-9734-6F69B8BB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81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8B6BD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8B6BD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A5E29-4759-4D42-ABBE-C9E941A4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622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Intent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93BAC5-F3CD-4ABF-9A82-69A3E6BD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622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8B6BD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8B6BD6"/>
                </a:solidFill>
                <a:latin typeface="PingFang SC"/>
                <a:ea typeface="PingFang SC"/>
                <a:cs typeface="PingFang SC"/>
              </a:rPr>
              <a:t>识别回答方式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E5F03D-44A0-4714-91AD-DD5400ED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95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读取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5DDD80-A88E-4B25-A392-29EDE29A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433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2033"/>
                </a:solidFill>
                <a:latin typeface="Menlo"/>
                <a:ea typeface="Menlo"/>
                <a:cs typeface="Menlo"/>
              </a:rPr>
              <a:t>current_question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5C37E6-BC71-4F95-90DB-E1627959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71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写回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17F3E4-D5C0-41BA-8184-7D6628FB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196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2033"/>
                </a:solidFill>
                <a:latin typeface="Menlo"/>
                <a:ea typeface="Menlo"/>
                <a:cs typeface="Menlo"/>
              </a:rPr>
              <a:t>intent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547A64-A029-4319-82AF-AAB99DCD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2590800" cy="314325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4D8F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B9D4A1-6207-45C9-B077-6E8991F6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81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D8F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D8FD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2A8C4C-2B07-4046-B888-6C7E96EC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Answer Agent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F0E841-E826-422E-B9A7-FBAD7605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622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D8FD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D8FD8"/>
                </a:solidFill>
                <a:latin typeface="PingFang SC"/>
                <a:ea typeface="PingFang SC"/>
                <a:cs typeface="PingFang SC"/>
              </a:rPr>
              <a:t>组织最终回答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411A1E-670B-4A5E-AC2A-848BA078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95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读取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C2999C-84A3-476E-AF7E-0A680CF3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433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2033"/>
                </a:solidFill>
                <a:latin typeface="Menlo"/>
                <a:ea typeface="Menlo"/>
                <a:cs typeface="Menlo"/>
              </a:rPr>
              <a:t>chunks + intent + memory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295EA6-366D-4FCF-B10A-A8DE1E13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71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写回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AE3393-8FF1-4833-A395-37D37F82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196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2033"/>
                </a:solidFill>
                <a:latin typeface="Menlo"/>
                <a:ea typeface="Menlo"/>
                <a:cs typeface="Menlo"/>
              </a:rPr>
              <a:t>answer</a:t>
            </a:r>
          </a:p>
        </p:txBody>
      </p:sp>
      <p:cxnSp>
        <p:nvCxnSpPr>
          <p:cNvPr id="78" name=""/>
          <p:cNvCxnSpPr>
            <a:stCxn xmlns:a="http://schemas.openxmlformats.org/drawingml/2006/main" id="4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00400" y="33623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2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096000" y="33623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20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991600" y="33623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86E715-4803-4D01-9BE9-0B18CF3B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14950"/>
            <a:ext cx="8077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DD6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ED13AD-D567-4200-A1CC-C98EC392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514975"/>
            <a:ext cx="746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21324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1324B"/>
                </a:solidFill>
                <a:latin typeface="PingFang SC"/>
                <a:ea typeface="PingFang SC"/>
                <a:cs typeface="PingFang SC"/>
              </a:rPr>
              <a:t>关键点：四个节点共享 RagState；它们不是相互聊天，而是按字段读取、更新、交接。</a:t>
            </a:r>
          </a:p>
        </p:txBody>
      </p:sp>
      <p:sp>
        <p:nvSpPr>
          <p:cNvPr id="4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5F74F15-A856-4E7D-83B9-66F430AD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来源：src/agents/rag_agent.py</a:t>
            </a:r>
          </a:p>
        </p:txBody>
      </p:sp>
      <p:sp>
        <p:nvSpPr>
          <p:cNvPr id="4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05C623-AD16-469E-9C89-E1C2DE8A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725863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85E2887C-BD45-4B74-97C2-DE67B2F6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D8FD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D8FD8"/>
                </a:solidFill>
                <a:latin typeface="PingFang SC"/>
                <a:ea typeface="PingFang SC"/>
                <a:cs typeface="PingFang SC"/>
              </a:rPr>
              <a:t>MULTI-AGENT RAG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8628ED-A744-43BA-AF0B-F95FF307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共享 RagState 是 Agent 协作的接口协议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BA176-1F39-4960-A1E5-B56FCF08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2C288-B67B-4480-8840-E0673F72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5720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21324B"/>
          </a:solidFill>
          <a:ln xmlns:a="http://schemas.openxmlformats.org/drawingml/2006/main" w="14288">
            <a:solidFill>
              <a:srgbClr val="2132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207CB-31C9-4096-95A3-CC795137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RagState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B3605-93D4-4FF2-8BBC-03455C46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39052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session_id: str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current_question: str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previous_question: str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previous_answer: str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retrieved_chunks: List[str]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retrieved_metadata: List[dict]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intent: str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answer: str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guardrail_passed: bool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guardrail_reason: str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55FC0-9AC5-4A81-A2AA-EBF4CD8B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同一个状态对象沿图流转</a:t>
            </a:r>
          </a:p>
        </p:txBody>
      </p:sp>
      <p:sp>
        <p:nvSpPr>
          <p:cNvPr id="8" name="state-guard">
            <a:extLst xmlns:a="http://schemas.openxmlformats.org/drawingml/2006/main">
              <a:ext uri="{FF2B5EF4-FFF2-40B4-BE49-F238E27FC236}">
                <a16:creationId xmlns:a16="http://schemas.microsoft.com/office/drawing/2014/main" id="{418D83D2-4F36-44A5-8EE1-99FFB1B0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2885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9050">
            <a:solidFill>
              <a:srgbClr val="E99A45"/>
            </a:solidFill>
            <a:prstDash val="solid"/>
          </a:ln>
        </p:spPr>
      </p:sp>
      <p:sp>
        <p:nvSpPr>
          <p:cNvPr id="9" name="state-guard-title">
            <a:extLst xmlns:a="http://schemas.openxmlformats.org/drawingml/2006/main">
              <a:ext uri="{FF2B5EF4-FFF2-40B4-BE49-F238E27FC236}">
                <a16:creationId xmlns:a16="http://schemas.microsoft.com/office/drawing/2014/main" id="{F098ABB6-316A-4D4A-A2A9-7D6EAFEA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717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Guardrail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B7610-DBA6-4F4A-B0E4-48986509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670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写 guardrail_*</a:t>
            </a:r>
          </a:p>
        </p:txBody>
      </p:sp>
      <p:sp>
        <p:nvSpPr>
          <p:cNvPr id="11" name="state-retrieve">
            <a:extLst xmlns:a="http://schemas.openxmlformats.org/drawingml/2006/main">
              <a:ext uri="{FF2B5EF4-FFF2-40B4-BE49-F238E27FC236}">
                <a16:creationId xmlns:a16="http://schemas.microsoft.com/office/drawing/2014/main" id="{A9F7A1E4-2B78-4168-9EBA-8614A762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9050">
            <a:solidFill>
              <a:srgbClr val="53A574"/>
            </a:solidFill>
            <a:prstDash val="solid"/>
          </a:ln>
        </p:spPr>
      </p:sp>
      <p:sp>
        <p:nvSpPr>
          <p:cNvPr id="12" name="state-retrieve-title">
            <a:extLst xmlns:a="http://schemas.openxmlformats.org/drawingml/2006/main">
              <a:ext uri="{FF2B5EF4-FFF2-40B4-BE49-F238E27FC236}">
                <a16:creationId xmlns:a16="http://schemas.microsoft.com/office/drawing/2014/main" id="{D8456068-4858-48DB-B9EC-60512B04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717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Retrieve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12603-48B0-4839-8979-F7EFDF3F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670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写 retrieved_*</a:t>
            </a:r>
          </a:p>
        </p:txBody>
      </p:sp>
      <p:sp>
        <p:nvSpPr>
          <p:cNvPr id="14" name="state-intent">
            <a:extLst xmlns:a="http://schemas.openxmlformats.org/drawingml/2006/main">
              <a:ext uri="{FF2B5EF4-FFF2-40B4-BE49-F238E27FC236}">
                <a16:creationId xmlns:a16="http://schemas.microsoft.com/office/drawing/2014/main" id="{26316BB6-1154-40E7-8B2B-9335E6D3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9050">
            <a:solidFill>
              <a:srgbClr val="8B6BD6"/>
            </a:solidFill>
            <a:prstDash val="solid"/>
          </a:ln>
        </p:spPr>
      </p:sp>
      <p:sp>
        <p:nvSpPr>
          <p:cNvPr id="15" name="state-intent-title">
            <a:extLst xmlns:a="http://schemas.openxmlformats.org/drawingml/2006/main">
              <a:ext uri="{FF2B5EF4-FFF2-40B4-BE49-F238E27FC236}">
                <a16:creationId xmlns:a16="http://schemas.microsoft.com/office/drawing/2014/main" id="{7CCA1A41-1EDD-4515-AB37-D6ACC6D2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57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Intent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2B55F-5DFE-4D6E-ABAE-758A2F2B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529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写 intent</a:t>
            </a:r>
          </a:p>
        </p:txBody>
      </p:sp>
      <p:sp>
        <p:nvSpPr>
          <p:cNvPr id="17" name="state-answer">
            <a:extLst xmlns:a="http://schemas.openxmlformats.org/drawingml/2006/main">
              <a:ext uri="{FF2B5EF4-FFF2-40B4-BE49-F238E27FC236}">
                <a16:creationId xmlns:a16="http://schemas.microsoft.com/office/drawing/2014/main" id="{77FC24EE-6C64-4CEA-8543-7D9AF6D5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4D8FD8"/>
            </a:solidFill>
            <a:prstDash val="solid"/>
          </a:ln>
        </p:spPr>
      </p:sp>
      <p:sp>
        <p:nvSpPr>
          <p:cNvPr id="18" name="state-answer-title">
            <a:extLst xmlns:a="http://schemas.openxmlformats.org/drawingml/2006/main">
              <a:ext uri="{FF2B5EF4-FFF2-40B4-BE49-F238E27FC236}">
                <a16:creationId xmlns:a16="http://schemas.microsoft.com/office/drawing/2014/main" id="{F2A7C99C-8F05-4552-ADF1-1E3FA9A0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57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Answer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9265A8-40BA-4944-968E-B44C7E92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529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写 answer</a:t>
            </a:r>
          </a:p>
        </p:txBody>
      </p:sp>
      <p:cxnSp>
        <p:nvCxnSpPr>
          <p:cNvPr id="4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001000" y="26098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6953250" y="2990850"/>
            <a:ext cx="2952750" cy="723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001000" y="4095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state-route">
            <a:extLst xmlns:a="http://schemas.openxmlformats.org/drawingml/2006/main">
              <a:ext uri="{FF2B5EF4-FFF2-40B4-BE49-F238E27FC236}">
                <a16:creationId xmlns:a16="http://schemas.microsoft.com/office/drawing/2014/main" id="{33282390-E1DF-4777-8F93-80C7D2CC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95850"/>
            <a:ext cx="5048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9050">
            <a:solidFill>
              <a:srgbClr val="D56363"/>
            </a:solidFill>
            <a:prstDash val="solid"/>
          </a:ln>
        </p:spPr>
      </p:sp>
      <p:sp>
        <p:nvSpPr>
          <p:cNvPr id="24" name="state-route-title">
            <a:extLst xmlns:a="http://schemas.openxmlformats.org/drawingml/2006/main">
              <a:ext uri="{FF2B5EF4-FFF2-40B4-BE49-F238E27FC236}">
                <a16:creationId xmlns:a16="http://schemas.microsoft.com/office/drawing/2014/main" id="{4FBC7F46-4F23-4F35-9657-1237C97F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38725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条件边决定是否继续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035483-85E7-4319-822C-424833EC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33400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guardrail_passed = false → END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否则 → supervisor_retrieval</a:t>
            </a:r>
          </a:p>
        </p:txBody>
      </p:sp>
      <p:sp>
        <p:nvSpPr>
          <p:cNvPr id="2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BE8D081-B691-487A-A382-F7FD32A1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来源：src/agents/rag_agent.py（RagState 与 _create_graph）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D5435C0-8BCD-428C-ABEA-B2FCD5C0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415849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icker">
            <a:extLst xmlns:a="http://schemas.openxmlformats.org/drawingml/2006/main">
              <a:ext uri="{FF2B5EF4-FFF2-40B4-BE49-F238E27FC236}">
                <a16:creationId xmlns:a16="http://schemas.microsoft.com/office/drawing/2014/main" id="{ED3DD708-4F04-4948-9073-32A88501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D8FD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D8FD8"/>
                </a:solidFill>
                <a:latin typeface="PingFang SC"/>
                <a:ea typeface="PingFang SC"/>
                <a:cs typeface="PingFang SC"/>
              </a:rPr>
              <a:t>MULTI-AGENT RAG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C34B70-6E5F-4BA8-9DF2-C3DE0AA1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两层 Guardrail 让风险请求提前短路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B2342-B53B-48C3-8B83-1B3BA4F6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E3"/>
            </a:solidFill>
            <a:prstDash val="solid"/>
          </a:ln>
        </p:spPr>
      </p:sp>
      <p:sp>
        <p:nvSpPr>
          <p:cNvPr id="4" name="safety-question">
            <a:extLst xmlns:a="http://schemas.openxmlformats.org/drawingml/2006/main">
              <a:ext uri="{FF2B5EF4-FFF2-40B4-BE49-F238E27FC236}">
                <a16:creationId xmlns:a16="http://schemas.microsoft.com/office/drawing/2014/main" id="{9533BFE9-BEB1-469B-874B-9F210100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333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4D8FD8"/>
            </a:solidFill>
            <a:prstDash val="solid"/>
          </a:ln>
        </p:spPr>
      </p:sp>
      <p:sp>
        <p:nvSpPr>
          <p:cNvPr id="5" name="safety-question-title">
            <a:extLst xmlns:a="http://schemas.openxmlformats.org/drawingml/2006/main">
              <a:ext uri="{FF2B5EF4-FFF2-40B4-BE49-F238E27FC236}">
                <a16:creationId xmlns:a16="http://schemas.microsoft.com/office/drawing/2014/main" id="{958D7D0E-BC9C-499B-BF42-7896D7BE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812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BD11D-9B9A-43B2-8DE9-25E6BB34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用户输入</a:t>
            </a:r>
          </a:p>
        </p:txBody>
      </p:sp>
      <p:sp>
        <p:nvSpPr>
          <p:cNvPr id="7" name="safety-outer">
            <a:extLst xmlns:a="http://schemas.openxmlformats.org/drawingml/2006/main">
              <a:ext uri="{FF2B5EF4-FFF2-40B4-BE49-F238E27FC236}">
                <a16:creationId xmlns:a16="http://schemas.microsoft.com/office/drawing/2014/main" id="{2BC384C7-6A6F-42F3-A699-E9A8568D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9800"/>
            <a:ext cx="2000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9050">
            <a:solidFill>
              <a:srgbClr val="E99A45"/>
            </a:solidFill>
            <a:prstDash val="solid"/>
          </a:ln>
        </p:spPr>
      </p:sp>
      <p:sp>
        <p:nvSpPr>
          <p:cNvPr id="8" name="safety-outer-title">
            <a:extLst xmlns:a="http://schemas.openxmlformats.org/drawingml/2006/main">
              <a:ext uri="{FF2B5EF4-FFF2-40B4-BE49-F238E27FC236}">
                <a16:creationId xmlns:a16="http://schemas.microsoft.com/office/drawing/2014/main" id="{4FF118FD-63F0-4C94-9997-8E1E7590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5267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外层 Guardrail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D040C-D3D6-4C7B-AEBD-E13B9980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05100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Azure Content Safety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Moderation + Shield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任何 LLM 前执行</a:t>
            </a:r>
          </a:p>
        </p:txBody>
      </p:sp>
      <p:sp>
        <p:nvSpPr>
          <p:cNvPr id="10" name="safety-inner">
            <a:extLst xmlns:a="http://schemas.openxmlformats.org/drawingml/2006/main">
              <a:ext uri="{FF2B5EF4-FFF2-40B4-BE49-F238E27FC236}">
                <a16:creationId xmlns:a16="http://schemas.microsoft.com/office/drawing/2014/main" id="{F22AA427-32C8-45F1-9111-68F97209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9800"/>
            <a:ext cx="2000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9050">
            <a:solidFill>
              <a:srgbClr val="8B6BD6"/>
            </a:solidFill>
            <a:prstDash val="solid"/>
          </a:ln>
        </p:spPr>
      </p:sp>
      <p:sp>
        <p:nvSpPr>
          <p:cNvPr id="11" name="safety-inner-title">
            <a:extLst xmlns:a="http://schemas.openxmlformats.org/drawingml/2006/main">
              <a:ext uri="{FF2B5EF4-FFF2-40B4-BE49-F238E27FC236}">
                <a16:creationId xmlns:a16="http://schemas.microsoft.com/office/drawing/2014/main" id="{28937442-7E8B-4BE2-BB68-B93AE6A4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5267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图内 Guardrail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46701-5E81-40CA-985B-1AA7640D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05100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LLM 判断相关性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relevant / irrelevant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/ unsafe</a:t>
            </a:r>
          </a:p>
        </p:txBody>
      </p:sp>
      <p:sp>
        <p:nvSpPr>
          <p:cNvPr id="13" name="safety-work">
            <a:extLst xmlns:a="http://schemas.openxmlformats.org/drawingml/2006/main">
              <a:ext uri="{FF2B5EF4-FFF2-40B4-BE49-F238E27FC236}">
                <a16:creationId xmlns:a16="http://schemas.microsoft.com/office/drawing/2014/main" id="{E193255C-58E5-47B9-A5ED-A0F3EE22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38400"/>
            <a:ext cx="1714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9050">
            <a:solidFill>
              <a:srgbClr val="53A574"/>
            </a:solidFill>
            <a:prstDash val="solid"/>
          </a:ln>
        </p:spPr>
      </p:sp>
      <p:sp>
        <p:nvSpPr>
          <p:cNvPr id="14" name="safety-work-title">
            <a:extLst xmlns:a="http://schemas.openxmlformats.org/drawingml/2006/main">
              <a:ext uri="{FF2B5EF4-FFF2-40B4-BE49-F238E27FC236}">
                <a16:creationId xmlns:a16="http://schemas.microsoft.com/office/drawing/2014/main" id="{C4659273-779F-4627-9AED-027E0E0C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8127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RAG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9BEC4-D016-4426-88E5-D842059C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956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检索 → 意图 → 回答</a:t>
            </a:r>
          </a:p>
        </p:txBody>
      </p:sp>
      <p:sp>
        <p:nvSpPr>
          <p:cNvPr id="16" name="safety-output">
            <a:extLst xmlns:a="http://schemas.openxmlformats.org/drawingml/2006/main">
              <a:ext uri="{FF2B5EF4-FFF2-40B4-BE49-F238E27FC236}">
                <a16:creationId xmlns:a16="http://schemas.microsoft.com/office/drawing/2014/main" id="{05882099-64CA-4934-A5CE-8D386FE2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09800"/>
            <a:ext cx="1714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9050">
            <a:solidFill>
              <a:srgbClr val="E99A45"/>
            </a:solidFill>
            <a:prstDash val="solid"/>
          </a:ln>
        </p:spPr>
      </p:sp>
      <p:sp>
        <p:nvSpPr>
          <p:cNvPr id="17" name="safety-output-title">
            <a:extLst xmlns:a="http://schemas.openxmlformats.org/drawingml/2006/main">
              <a:ext uri="{FF2B5EF4-FFF2-40B4-BE49-F238E27FC236}">
                <a16:creationId xmlns:a16="http://schemas.microsoft.com/office/drawing/2014/main" id="{B2FDC5A9-D60B-4A13-A368-0213891B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输出 Guardrail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BEB91-0F62-4AB2-9A27-D367349C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051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审核生成答案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命中时替换答案</a:t>
            </a:r>
          </a:p>
        </p:txBody>
      </p:sp>
      <p:cxnSp>
        <p:nvCxnSpPr>
          <p:cNvPr id="55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19300" y="28479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533900" y="28479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048500" y="28479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277350" y="28479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safety-blocked">
            <a:extLst xmlns:a="http://schemas.openxmlformats.org/drawingml/2006/main">
              <a:ext uri="{FF2B5EF4-FFF2-40B4-BE49-F238E27FC236}">
                <a16:creationId xmlns:a16="http://schemas.microsoft.com/office/drawing/2014/main" id="{CC2D9508-2072-4966-8C56-3A121457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10050"/>
            <a:ext cx="1905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9050">
            <a:solidFill>
              <a:srgbClr val="D56363"/>
            </a:solidFill>
            <a:prstDash val="solid"/>
          </a:ln>
        </p:spPr>
      </p:sp>
      <p:sp>
        <p:nvSpPr>
          <p:cNvPr id="24" name="safety-blocked-title">
            <a:extLst xmlns:a="http://schemas.openxmlformats.org/drawingml/2006/main">
              <a:ext uri="{FF2B5EF4-FFF2-40B4-BE49-F238E27FC236}">
                <a16:creationId xmlns:a16="http://schemas.microsoft.com/office/drawing/2014/main" id="{B2F286A0-93B0-4ABE-9707-672A6A59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529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BLOCKED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F26C56-D7D6-4E48-8043-7073CD9B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482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不进入 LangGraph</a:t>
            </a:r>
          </a:p>
        </p:txBody>
      </p:sp>
      <p:sp>
        <p:nvSpPr>
          <p:cNvPr id="26" name="safety-rejected">
            <a:extLst xmlns:a="http://schemas.openxmlformats.org/drawingml/2006/main">
              <a:ext uri="{FF2B5EF4-FFF2-40B4-BE49-F238E27FC236}">
                <a16:creationId xmlns:a16="http://schemas.microsoft.com/office/drawing/2014/main" id="{0301065F-CC84-4EC6-873C-8FDA5099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10050"/>
            <a:ext cx="1905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9050">
            <a:solidFill>
              <a:srgbClr val="D56363"/>
            </a:solidFill>
            <a:prstDash val="solid"/>
          </a:ln>
        </p:spPr>
      </p:sp>
      <p:sp>
        <p:nvSpPr>
          <p:cNvPr id="27" name="safety-rejected-title">
            <a:extLst xmlns:a="http://schemas.openxmlformats.org/drawingml/2006/main">
              <a:ext uri="{FF2B5EF4-FFF2-40B4-BE49-F238E27FC236}">
                <a16:creationId xmlns:a16="http://schemas.microsoft.com/office/drawing/2014/main" id="{0A836A24-68CC-4ADD-AC85-B05DAFB4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3529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REJECTED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381A38-F904-44AE-A2C5-9CEB3095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6482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不检索、不更新会话</a:t>
            </a:r>
          </a:p>
        </p:txBody>
      </p:sp>
      <p:cxnSp>
        <p:nvCxnSpPr>
          <p:cNvPr id="65" name=""/>
          <p:cNvCxnSpPr>
            <a:stCxn xmlns:a="http://schemas.openxmlformats.org/drawingml/2006/main" id="7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3524250" y="3486150"/>
            <a:ext cx="9525" cy="723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D5636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0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6048375" y="348615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D5636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E426DF-9E52-4FEE-BC43-82455B24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81450"/>
            <a:ext cx="39433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DD6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F748A9-CFE4-4BA7-BB00-57951235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10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3A5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3A574"/>
                </a:solidFill>
                <a:latin typeface="PingFang SC"/>
                <a:ea typeface="PingFang SC"/>
                <a:cs typeface="PingFang SC"/>
              </a:rPr>
              <a:t>会话记忆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4972F3-A6AD-42B0-B90E-512E496B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52950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只保存上一轮 Q/A；正常完成后才更新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默认 30 分钟过期，后台每 5 分钟清理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E419AB-3483-4BF3-A102-C54CC645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可用性策略：Content Safety 或图内 Guardrail 调用失败时 fail-open，并把错误写入日志/详情。</a:t>
            </a:r>
          </a:p>
        </p:txBody>
      </p:sp>
      <p:sp>
        <p:nvSpPr>
          <p:cNvPr id="3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39F80E3-E132-4AF4-A321-1C175852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来源：src/api/routes.py；src/guardrails/content_safety.py；src/utils/session_memory.py</a:t>
            </a:r>
          </a:p>
        </p:txBody>
      </p:sp>
      <p:sp>
        <p:nvSpPr>
          <p:cNvPr id="3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77E393-1839-4D05-84B5-99D8C1FC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386578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kicker">
            <a:extLst xmlns:a="http://schemas.openxmlformats.org/drawingml/2006/main">
              <a:ext uri="{FF2B5EF4-FFF2-40B4-BE49-F238E27FC236}">
                <a16:creationId xmlns:a16="http://schemas.microsoft.com/office/drawing/2014/main" id="{71BA6C0E-FEC1-4192-B525-9C575E41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D8FD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D8FD8"/>
                </a:solidFill>
                <a:latin typeface="PingFang SC"/>
                <a:ea typeface="PingFang SC"/>
                <a:cs typeface="PingFang SC"/>
              </a:rPr>
              <a:t>MULTI-AGENT RAG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CFC8CC-BC84-473D-B4FD-051067F3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一个问题如何完成端到端流转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A32B2-68AC-45E1-A511-FCCCDC99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2B429-5666-4477-BD19-FB315113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1324B"/>
          </a:solidFill>
          <a:ln xmlns:a="http://schemas.openxmlformats.org/drawingml/2006/main" w="14288">
            <a:solidFill>
              <a:srgbClr val="2132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3DB3F-38A3-4C49-99CE-92982755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1021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“文档中如何定义机器学习？”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38C8F-76E4-4885-991B-7CC3E23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FD8"/>
          </a:solidFill>
          <a:ln xmlns:a="http://schemas.openxmlformats.org/drawingml/2006/main" w="14288">
            <a:solidFill>
              <a:srgbClr val="4D8F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D4064-A957-4075-B3A2-AD174DFF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example-stage-1">
            <a:extLst xmlns:a="http://schemas.openxmlformats.org/drawingml/2006/main">
              <a:ext uri="{FF2B5EF4-FFF2-40B4-BE49-F238E27FC236}">
                <a16:creationId xmlns:a16="http://schemas.microsoft.com/office/drawing/2014/main" id="{7C1322CA-A5AC-4525-90BF-247B20A5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8669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4D8FD8"/>
            </a:solidFill>
            <a:prstDash val="solid"/>
          </a:ln>
        </p:spPr>
      </p:sp>
      <p:sp>
        <p:nvSpPr>
          <p:cNvPr id="9" name="example-stage-1-title">
            <a:extLst xmlns:a="http://schemas.openxmlformats.org/drawingml/2006/main">
              <a:ext uri="{FF2B5EF4-FFF2-40B4-BE49-F238E27FC236}">
                <a16:creationId xmlns:a16="http://schemas.microsoft.com/office/drawing/2014/main" id="{85CD4CBB-80FD-4C88-90D1-8FE09CB0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337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加载上下文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191BA-4234-46B9-BA5D-43D76F87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350" b="0">
                <a:solidFill>
                  <a:srgbClr val="65708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5708A"/>
                </a:solidFill>
                <a:latin typeface="Menlo"/>
                <a:ea typeface="Menlo"/>
                <a:cs typeface="Menlo"/>
              </a:rPr>
              <a:t>session_id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1350" b="0">
                <a:solidFill>
                  <a:srgbClr val="65708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5708A"/>
                </a:solidFill>
                <a:latin typeface="Menlo"/>
                <a:ea typeface="Menlo"/>
                <a:cs typeface="Menlo"/>
              </a:rPr>
              <a:t>previous Q/A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2CDB9-4C2D-400A-9316-BCBAFB90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724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A45"/>
          </a:solidFill>
          <a:ln xmlns:a="http://schemas.openxmlformats.org/drawingml/2006/main" w="14288">
            <a:solidFill>
              <a:srgbClr val="E99A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BE8BE-90CE-42AD-8B20-822E31FD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7622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example-stage-2">
            <a:extLst xmlns:a="http://schemas.openxmlformats.org/drawingml/2006/main">
              <a:ext uri="{FF2B5EF4-FFF2-40B4-BE49-F238E27FC236}">
                <a16:creationId xmlns:a16="http://schemas.microsoft.com/office/drawing/2014/main" id="{519D96B7-CBF3-4209-8799-9C1F0E0B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390900"/>
            <a:ext cx="18669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9050">
            <a:solidFill>
              <a:srgbClr val="E99A45"/>
            </a:solidFill>
            <a:prstDash val="solid"/>
          </a:ln>
        </p:spPr>
      </p:sp>
      <p:sp>
        <p:nvSpPr>
          <p:cNvPr id="14" name="example-stage-2-title">
            <a:extLst xmlns:a="http://schemas.openxmlformats.org/drawingml/2006/main">
              <a:ext uri="{FF2B5EF4-FFF2-40B4-BE49-F238E27FC236}">
                <a16:creationId xmlns:a16="http://schemas.microsoft.com/office/drawing/2014/main" id="{92C05C43-4E4D-40B7-8ECE-4323BD08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5337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安全检查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CAC84-5242-49D1-80DC-3ADD86B0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19550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350" b="0">
                <a:solidFill>
                  <a:srgbClr val="65708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5708A"/>
                </a:solidFill>
                <a:latin typeface="Menlo"/>
                <a:ea typeface="Menlo"/>
                <a:cs typeface="Menlo"/>
              </a:rPr>
              <a:t>clean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1350" b="0">
                <a:solidFill>
                  <a:srgbClr val="65708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5708A"/>
                </a:solidFill>
                <a:latin typeface="Menlo"/>
                <a:ea typeface="Menlo"/>
                <a:cs typeface="Menlo"/>
              </a:rPr>
              <a:t>→ continue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E81DB-369D-47E9-9945-8ED33AF7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24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A574"/>
          </a:solidFill>
          <a:ln xmlns:a="http://schemas.openxmlformats.org/drawingml/2006/main" w="14288">
            <a:solidFill>
              <a:srgbClr val="53A57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747B7-68BE-4222-BC7C-B2B24710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example-stage-3">
            <a:extLst xmlns:a="http://schemas.openxmlformats.org/drawingml/2006/main">
              <a:ext uri="{FF2B5EF4-FFF2-40B4-BE49-F238E27FC236}">
                <a16:creationId xmlns:a16="http://schemas.microsoft.com/office/drawing/2014/main" id="{586834AA-9D9B-4085-BE81-1B80F134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18669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9050">
            <a:solidFill>
              <a:srgbClr val="53A574"/>
            </a:solidFill>
            <a:prstDash val="solid"/>
          </a:ln>
        </p:spPr>
      </p:sp>
      <p:sp>
        <p:nvSpPr>
          <p:cNvPr id="19" name="example-stage-3-title">
            <a:extLst xmlns:a="http://schemas.openxmlformats.org/drawingml/2006/main">
              <a:ext uri="{FF2B5EF4-FFF2-40B4-BE49-F238E27FC236}">
                <a16:creationId xmlns:a16="http://schemas.microsoft.com/office/drawing/2014/main" id="{B8AE7B79-B3C4-4013-BB70-7C08F31F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337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混合检索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6571BC-7196-4F53-84F4-E347EA58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19550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350" b="0">
                <a:solidFill>
                  <a:srgbClr val="65708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5708A"/>
                </a:solidFill>
                <a:latin typeface="Menlo"/>
                <a:ea typeface="Menlo"/>
                <a:cs typeface="Menlo"/>
              </a:rPr>
              <a:t>query vector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1350" b="0">
                <a:solidFill>
                  <a:srgbClr val="65708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5708A"/>
                </a:solidFill>
                <a:latin typeface="Menlo"/>
                <a:ea typeface="Menlo"/>
                <a:cs typeface="Menlo"/>
              </a:rPr>
              <a:t>+ BM25 → top_k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653690-7E8D-40D7-997E-F5CF24A6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24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6BD6"/>
          </a:solidFill>
          <a:ln xmlns:a="http://schemas.openxmlformats.org/drawingml/2006/main" w="14288">
            <a:solidFill>
              <a:srgbClr val="8B6B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06B3F6-2B2D-4FCB-8405-A243E195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622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example-stage-4">
            <a:extLst xmlns:a="http://schemas.openxmlformats.org/drawingml/2006/main">
              <a:ext uri="{FF2B5EF4-FFF2-40B4-BE49-F238E27FC236}">
                <a16:creationId xmlns:a16="http://schemas.microsoft.com/office/drawing/2014/main" id="{FD33E559-BD54-4D1F-A86E-CF367C8A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390900"/>
            <a:ext cx="18669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9050">
            <a:solidFill>
              <a:srgbClr val="8B6BD6"/>
            </a:solidFill>
            <a:prstDash val="solid"/>
          </a:ln>
        </p:spPr>
      </p:sp>
      <p:sp>
        <p:nvSpPr>
          <p:cNvPr id="24" name="example-stage-4-title">
            <a:extLst xmlns:a="http://schemas.openxmlformats.org/drawingml/2006/main">
              <a:ext uri="{FF2B5EF4-FFF2-40B4-BE49-F238E27FC236}">
                <a16:creationId xmlns:a16="http://schemas.microsoft.com/office/drawing/2014/main" id="{B1C72F15-0D5A-4BA9-BCE8-B37DAEF6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5337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意图识别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304F9D-5F09-4449-8E7C-021BD72C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19550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350" b="0">
                <a:solidFill>
                  <a:srgbClr val="65708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5708A"/>
                </a:solidFill>
                <a:latin typeface="Menlo"/>
                <a:ea typeface="Menlo"/>
                <a:cs typeface="Menlo"/>
              </a:rPr>
              <a:t>intent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1350" b="0">
                <a:solidFill>
                  <a:srgbClr val="65708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5708A"/>
                </a:solidFill>
                <a:latin typeface="Menlo"/>
                <a:ea typeface="Menlo"/>
                <a:cs typeface="Menlo"/>
              </a:rPr>
              <a:t>= definition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CB64F6-55B9-40C6-956B-49666466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24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FD8"/>
          </a:solidFill>
          <a:ln xmlns:a="http://schemas.openxmlformats.org/drawingml/2006/main" w="14288">
            <a:solidFill>
              <a:srgbClr val="4D8F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3D4876-AFDD-4923-9AEE-4636E662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8" name="example-stage-5">
            <a:extLst xmlns:a="http://schemas.openxmlformats.org/drawingml/2006/main">
              <a:ext uri="{FF2B5EF4-FFF2-40B4-BE49-F238E27FC236}">
                <a16:creationId xmlns:a16="http://schemas.microsoft.com/office/drawing/2014/main" id="{3002DDE4-DA1D-4D11-B998-93857F46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90900"/>
            <a:ext cx="18669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4D8FD8"/>
            </a:solidFill>
            <a:prstDash val="solid"/>
          </a:ln>
        </p:spPr>
      </p:sp>
      <p:sp>
        <p:nvSpPr>
          <p:cNvPr id="29" name="example-stage-5-title">
            <a:extLst xmlns:a="http://schemas.openxmlformats.org/drawingml/2006/main">
              <a:ext uri="{FF2B5EF4-FFF2-40B4-BE49-F238E27FC236}">
                <a16:creationId xmlns:a16="http://schemas.microsoft.com/office/drawing/2014/main" id="{6FAE3AAE-BFE9-4AF2-9473-2751A35B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7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回答组装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3BCF27-1C4D-4383-BEAC-BF32E6BF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19550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350" b="0">
                <a:solidFill>
                  <a:srgbClr val="65708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5708A"/>
                </a:solidFill>
                <a:latin typeface="Menlo"/>
                <a:ea typeface="Menlo"/>
                <a:cs typeface="Menlo"/>
              </a:rPr>
              <a:t>answer + sources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1350" b="0">
                <a:solidFill>
                  <a:srgbClr val="65708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5708A"/>
                </a:solidFill>
                <a:latin typeface="Menlo"/>
                <a:ea typeface="Menlo"/>
                <a:cs typeface="Menlo"/>
              </a:rPr>
              <a:t>+ guardrail details</a:t>
            </a:r>
          </a:p>
        </p:txBody>
      </p:sp>
      <p:cxnSp>
        <p:nvCxnSpPr>
          <p:cNvPr id="69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552700" y="41719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733925" y="41719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915150" y="41719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23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096375" y="41719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C7A9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C81ECF-2A1F-4E2D-BA29-27025BE7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72100"/>
            <a:ext cx="7543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DD6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694F7A-BEA1-4EFD-9584-C26BBC71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53075"/>
            <a:ext cx="693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1324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1324B"/>
                </a:solidFill>
                <a:latin typeface="PingFang SC"/>
                <a:ea typeface="PingFang SC"/>
                <a:cs typeface="PingFang SC"/>
              </a:rPr>
              <a:t>系统没有预设答案：检索结果可能是 0 到 top_k 个块；无结果时 Answer Agent 返回明确的兜底信息。</a:t>
            </a:r>
          </a:p>
        </p:txBody>
      </p:sp>
      <p:sp>
        <p:nvSpPr>
          <p:cNvPr id="3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EF7219A-02C8-4EBB-B48C-2AD391EE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示例问题来自 README 使用示例；执行逻辑见 src/api/routes.py 与 src/agents/rag_agent.py</a:t>
            </a:r>
          </a:p>
        </p:txBody>
      </p:sp>
      <p:sp>
        <p:nvSpPr>
          <p:cNvPr id="3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7C0A9B-9AE6-4DA3-9D94-E903E244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11817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AE90E3E5-B7B2-4FAA-AAEF-D87DBA32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D8FD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D8FD8"/>
                </a:solidFill>
                <a:latin typeface="PingFang SC"/>
                <a:ea typeface="PingFang SC"/>
                <a:cs typeface="PingFang SC"/>
              </a:rPr>
              <a:t>MULTI-AGENT RAG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79BE6E-BC05-498B-A58E-DBDB33A2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三条原则足以记住这套系统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EAB0B-F01E-4EFA-8C9A-F919E4BC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8E600-6352-45C8-ADD5-BE301285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53A57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53A57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A8D55-28A7-4E05-963F-75F2A263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证据先于回答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2FBD6-8F2B-4172-8781-7173BDC3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文档先切块、向量化、入索引；查询先召回，再生成。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4B76B-4D74-410F-81FA-72EB6FA4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3A57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73708-C607-477C-B00D-600AC84B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8B6BD6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8B6BD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1CC92-C8A3-4637-9446-8DF5A468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职责先于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F461B-B527-4C15-A3E3-0D69E999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每个节点只做一类决定，并明确读取和写回哪些状态字段。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A57DA-4460-4941-931E-AC9B9AEC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957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6B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6C243-FC3C-497C-9564-4BD8ECF0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E99A4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E99A4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373CF-79ED-414B-91C2-D747F53A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控制贯穿全程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BF56F-9180-44DE-99D0-DDC25E7E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337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输入/输出 Guardrail、会话记忆与 Trace 都是主链路的一部分。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62AB8-22C4-487E-9114-27D1F93D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99A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A5AAB-891C-495E-A184-B2C6E0D4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1324B"/>
          </a:solidFill>
          <a:ln xmlns:a="http://schemas.openxmlformats.org/drawingml/2006/main" w="14288">
            <a:solidFill>
              <a:srgbClr val="2132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F26B8-A177-4D1C-811F-6DE22D88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A9C8E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A9C8EF"/>
                </a:solidFill>
                <a:latin typeface="PingFang SC"/>
                <a:ea typeface="PingFang SC"/>
                <a:cs typeface="PingFang SC"/>
              </a:rPr>
              <a:t>课堂讨论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30E60-D857-4846-A13A-D1872680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21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如果新增 Citation Agent，它应该读取和写回 RagState 的哪些字段？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58A27EC-7861-4806-B00D-B9C86EDB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基于当前 multiagent-rag 项目实现总结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C5B394C-DB9E-4F50-889C-D1ACC953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57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5708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04970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2026-07-19T07:07:22.3830000Z</dcterms:created>
  <dcterms:modified xsi:type="dcterms:W3CDTF">2026-07-19T07:07:22.3830000Z</dcterms:modified>
</coreProperties>
</file>